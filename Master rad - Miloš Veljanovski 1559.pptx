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sldIdLst>
    <p:sldId id="256" r:id="rId2"/>
    <p:sldId id="257" r:id="rId3"/>
    <p:sldId id="258" r:id="rId4"/>
    <p:sldId id="259" r:id="rId5"/>
    <p:sldId id="260" r:id="rId6"/>
    <p:sldId id="270" r:id="rId7"/>
    <p:sldId id="275" r:id="rId8"/>
    <p:sldId id="271" r:id="rId9"/>
    <p:sldId id="261" r:id="rId10"/>
    <p:sldId id="262" r:id="rId11"/>
    <p:sldId id="263" r:id="rId12"/>
    <p:sldId id="272" r:id="rId13"/>
    <p:sldId id="269" r:id="rId14"/>
    <p:sldId id="264" r:id="rId15"/>
    <p:sldId id="265" r:id="rId16"/>
    <p:sldId id="276" r:id="rId17"/>
    <p:sldId id="266" r:id="rId18"/>
    <p:sldId id="267" r:id="rId19"/>
    <p:sldId id="273" r:id="rId20"/>
    <p:sldId id="274" r:id="rId21"/>
    <p:sldId id="268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4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 err="1"/>
              <a:t>Srednja</a:t>
            </a:r>
            <a:r>
              <a:rPr lang="en-US" dirty="0"/>
              <a:t> </a:t>
            </a:r>
            <a:r>
              <a:rPr lang="en-US" dirty="0" err="1"/>
              <a:t>latencija</a:t>
            </a:r>
            <a:r>
              <a:rPr lang="en-US" baseline="0" dirty="0"/>
              <a:t> po </a:t>
            </a:r>
            <a:r>
              <a:rPr lang="en-US" baseline="0" dirty="0" err="1"/>
              <a:t>scenarijima</a:t>
            </a:r>
            <a:r>
              <a:rPr lang="en-US" baseline="0" dirty="0"/>
              <a:t> (</a:t>
            </a:r>
            <a:r>
              <a:rPr lang="en-US" baseline="0" dirty="0" err="1"/>
              <a:t>ms</a:t>
            </a:r>
            <a:r>
              <a:rPr lang="en-US" baseline="0" dirty="0"/>
              <a:t>) 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Simple GET</c:v>
                </c:pt>
                <c:pt idx="1">
                  <c:v>Deep graph fetch</c:v>
                </c:pt>
                <c:pt idx="2">
                  <c:v>Over-fetching vs. minimal fetching</c:v>
                </c:pt>
                <c:pt idx="3">
                  <c:v>Paged product list</c:v>
                </c:pt>
                <c:pt idx="4">
                  <c:v>Write + read-back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4.7</c:v>
                </c:pt>
                <c:pt idx="1">
                  <c:v>4.9800000000000004</c:v>
                </c:pt>
                <c:pt idx="2">
                  <c:v>4.53</c:v>
                </c:pt>
                <c:pt idx="3">
                  <c:v>5.42</c:v>
                </c:pt>
                <c:pt idx="4">
                  <c:v>24.14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B8B-4FEB-B37E-E571C02A4C4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GraphQL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Simple GET</c:v>
                </c:pt>
                <c:pt idx="1">
                  <c:v>Deep graph fetch</c:v>
                </c:pt>
                <c:pt idx="2">
                  <c:v>Over-fetching vs. minimal fetching</c:v>
                </c:pt>
                <c:pt idx="3">
                  <c:v>Paged product list</c:v>
                </c:pt>
                <c:pt idx="4">
                  <c:v>Write + read-back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7.28</c:v>
                </c:pt>
                <c:pt idx="1">
                  <c:v>8.07</c:v>
                </c:pt>
                <c:pt idx="2">
                  <c:v>4.09</c:v>
                </c:pt>
                <c:pt idx="3">
                  <c:v>9.6999999999999993</c:v>
                </c:pt>
                <c:pt idx="4">
                  <c:v>28.55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B8B-4FEB-B37E-E571C02A4C4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78753407"/>
        <c:axId val="328967823"/>
      </c:barChart>
      <c:catAx>
        <c:axId val="178753407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28967823"/>
        <c:crosses val="autoZero"/>
        <c:auto val="1"/>
        <c:lblAlgn val="ctr"/>
        <c:lblOffset val="100"/>
        <c:noMultiLvlLbl val="0"/>
      </c:catAx>
      <c:valAx>
        <c:axId val="3289678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875340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Prose</a:t>
            </a:r>
            <a:r>
              <a:rPr lang="sr-Latn-RS" dirty="0"/>
              <a:t>čna</a:t>
            </a:r>
            <a:r>
              <a:rPr lang="sr-Latn-RS" baseline="0" dirty="0"/>
              <a:t> veličina HTTP odgovora </a:t>
            </a:r>
            <a:r>
              <a:rPr lang="en-US" baseline="0" dirty="0"/>
              <a:t>po </a:t>
            </a:r>
            <a:r>
              <a:rPr lang="en-US" baseline="0" dirty="0" err="1"/>
              <a:t>scenarijima</a:t>
            </a:r>
            <a:r>
              <a:rPr lang="en-US" baseline="0" dirty="0"/>
              <a:t> (KB) 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Simple GET</c:v>
                </c:pt>
                <c:pt idx="1">
                  <c:v>Deep graph fetch</c:v>
                </c:pt>
                <c:pt idx="2">
                  <c:v>Over-fetching vs. minimal fetching</c:v>
                </c:pt>
                <c:pt idx="3">
                  <c:v>Paged product list</c:v>
                </c:pt>
                <c:pt idx="4">
                  <c:v>Write + read-back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0.52800000000000002</c:v>
                </c:pt>
                <c:pt idx="1">
                  <c:v>1.0780000000000001</c:v>
                </c:pt>
                <c:pt idx="2">
                  <c:v>0.52800000000000002</c:v>
                </c:pt>
                <c:pt idx="3">
                  <c:v>13.553000000000001</c:v>
                </c:pt>
                <c:pt idx="4">
                  <c:v>0.88900000000000001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52E-4728-8D9D-6A08BCF45E5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GraphQL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Simple GET</c:v>
                </c:pt>
                <c:pt idx="1">
                  <c:v>Deep graph fetch</c:v>
                </c:pt>
                <c:pt idx="2">
                  <c:v>Over-fetching vs. minimal fetching</c:v>
                </c:pt>
                <c:pt idx="3">
                  <c:v>Paged product list</c:v>
                </c:pt>
                <c:pt idx="4">
                  <c:v>Write + read-back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0.73899999999999999</c:v>
                </c:pt>
                <c:pt idx="1">
                  <c:v>1.3480000000000001</c:v>
                </c:pt>
                <c:pt idx="2">
                  <c:v>0.46</c:v>
                </c:pt>
                <c:pt idx="3">
                  <c:v>14.016</c:v>
                </c:pt>
                <c:pt idx="4">
                  <c:v>1.1599999999999999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52E-4728-8D9D-6A08BCF45E5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78753407"/>
        <c:axId val="328967823"/>
      </c:barChart>
      <c:catAx>
        <c:axId val="178753407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28967823"/>
        <c:crosses val="autoZero"/>
        <c:auto val="1"/>
        <c:lblAlgn val="ctr"/>
        <c:lblOffset val="100"/>
        <c:noMultiLvlLbl val="0"/>
      </c:catAx>
      <c:valAx>
        <c:axId val="3289678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875340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627312F-5300-48FE-8A3D-BD824CA364CC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5E6F51A-0272-4195-BDBA-0ADC12AAAF73}">
      <dgm:prSet phldrT="[Text]" phldr="0"/>
      <dgm:spPr/>
      <dgm:t>
        <a:bodyPr/>
        <a:lstStyle/>
        <a:p>
          <a:r>
            <a:rPr lang="en-US" dirty="0" err="1"/>
            <a:t>Klijent</a:t>
          </a:r>
          <a:endParaRPr lang="en-US" dirty="0"/>
        </a:p>
      </dgm:t>
    </dgm:pt>
    <dgm:pt modelId="{5391D3ED-87C9-4E32-8E83-6391C20E3B0E}" type="parTrans" cxnId="{DE52AAE0-1F69-4B4B-B86C-4B851899E509}">
      <dgm:prSet/>
      <dgm:spPr/>
      <dgm:t>
        <a:bodyPr/>
        <a:lstStyle/>
        <a:p>
          <a:endParaRPr lang="en-US"/>
        </a:p>
      </dgm:t>
    </dgm:pt>
    <dgm:pt modelId="{FA5C99E8-BF55-4618-9DDD-C73D0A483798}" type="sibTrans" cxnId="{DE52AAE0-1F69-4B4B-B86C-4B851899E509}">
      <dgm:prSet/>
      <dgm:spPr/>
      <dgm:t>
        <a:bodyPr/>
        <a:lstStyle/>
        <a:p>
          <a:endParaRPr lang="en-US"/>
        </a:p>
      </dgm:t>
    </dgm:pt>
    <dgm:pt modelId="{DF6B2587-D324-4311-A380-4095391A659F}">
      <dgm:prSet phldrT="[Text]" phldr="0"/>
      <dgm:spPr/>
      <dgm:t>
        <a:bodyPr/>
        <a:lstStyle/>
        <a:p>
          <a:r>
            <a:rPr lang="en-US" dirty="0"/>
            <a:t>API</a:t>
          </a:r>
        </a:p>
      </dgm:t>
    </dgm:pt>
    <dgm:pt modelId="{76937290-7DEA-4CCC-A6B9-4AEF8307C26F}" type="parTrans" cxnId="{58CE0C2F-6967-4BC6-B313-9767FA69DC29}">
      <dgm:prSet/>
      <dgm:spPr/>
      <dgm:t>
        <a:bodyPr/>
        <a:lstStyle/>
        <a:p>
          <a:endParaRPr lang="en-US"/>
        </a:p>
      </dgm:t>
    </dgm:pt>
    <dgm:pt modelId="{E04CD881-0C01-4F6B-AD1B-EF1A3FA70D05}" type="sibTrans" cxnId="{58CE0C2F-6967-4BC6-B313-9767FA69DC29}">
      <dgm:prSet/>
      <dgm:spPr/>
      <dgm:t>
        <a:bodyPr/>
        <a:lstStyle/>
        <a:p>
          <a:endParaRPr lang="en-US"/>
        </a:p>
      </dgm:t>
    </dgm:pt>
    <dgm:pt modelId="{467BECD1-C312-4E4C-A6A6-1743102BE4CD}">
      <dgm:prSet phldrT="[Text]" phldr="0"/>
      <dgm:spPr/>
      <dgm:t>
        <a:bodyPr/>
        <a:lstStyle/>
        <a:p>
          <a:r>
            <a:rPr lang="en-US" dirty="0"/>
            <a:t>Baza </a:t>
          </a:r>
          <a:r>
            <a:rPr lang="en-US" dirty="0" err="1"/>
            <a:t>podataka</a:t>
          </a:r>
          <a:endParaRPr lang="en-US" dirty="0"/>
        </a:p>
      </dgm:t>
    </dgm:pt>
    <dgm:pt modelId="{80936BF4-540A-4418-BBD5-EC9E183E8DF5}" type="parTrans" cxnId="{26B76028-79B2-4647-AC76-9AE8EA9DFD98}">
      <dgm:prSet/>
      <dgm:spPr/>
      <dgm:t>
        <a:bodyPr/>
        <a:lstStyle/>
        <a:p>
          <a:endParaRPr lang="en-US"/>
        </a:p>
      </dgm:t>
    </dgm:pt>
    <dgm:pt modelId="{9C7BCB9A-C11D-4645-B2FB-2AEC534858A3}" type="sibTrans" cxnId="{26B76028-79B2-4647-AC76-9AE8EA9DFD98}">
      <dgm:prSet/>
      <dgm:spPr/>
      <dgm:t>
        <a:bodyPr/>
        <a:lstStyle/>
        <a:p>
          <a:endParaRPr lang="en-US"/>
        </a:p>
      </dgm:t>
    </dgm:pt>
    <dgm:pt modelId="{FF000993-FCA4-4F17-9FD6-44BE7F4D26A4}">
      <dgm:prSet phldrT="[Text]" phldr="0"/>
      <dgm:spPr/>
      <dgm:t>
        <a:bodyPr/>
        <a:lstStyle/>
        <a:p>
          <a:r>
            <a:rPr lang="en-US" dirty="0" err="1"/>
            <a:t>Poslovna</a:t>
          </a:r>
          <a:r>
            <a:rPr lang="en-US" dirty="0"/>
            <a:t> </a:t>
          </a:r>
          <a:r>
            <a:rPr lang="en-US" dirty="0" err="1"/>
            <a:t>logika</a:t>
          </a:r>
          <a:endParaRPr lang="en-US" dirty="0"/>
        </a:p>
      </dgm:t>
    </dgm:pt>
    <dgm:pt modelId="{D21DB999-BBE2-44FD-AD7A-A1A38940113B}" type="parTrans" cxnId="{057B9830-479D-4719-86DB-A1CF4C5617AF}">
      <dgm:prSet/>
      <dgm:spPr/>
      <dgm:t>
        <a:bodyPr/>
        <a:lstStyle/>
        <a:p>
          <a:endParaRPr lang="en-US"/>
        </a:p>
      </dgm:t>
    </dgm:pt>
    <dgm:pt modelId="{F3B098CB-9036-434F-B649-98B9F298D37F}" type="sibTrans" cxnId="{057B9830-479D-4719-86DB-A1CF4C5617AF}">
      <dgm:prSet/>
      <dgm:spPr/>
      <dgm:t>
        <a:bodyPr/>
        <a:lstStyle/>
        <a:p>
          <a:endParaRPr lang="en-US"/>
        </a:p>
      </dgm:t>
    </dgm:pt>
    <dgm:pt modelId="{E0F494F1-D8FA-49A4-9464-2E79210D7513}" type="pres">
      <dgm:prSet presAssocID="{C627312F-5300-48FE-8A3D-BD824CA364CC}" presName="Name0" presStyleCnt="0">
        <dgm:presLayoutVars>
          <dgm:dir/>
          <dgm:resizeHandles val="exact"/>
        </dgm:presLayoutVars>
      </dgm:prSet>
      <dgm:spPr/>
    </dgm:pt>
    <dgm:pt modelId="{B9265248-3385-4CC8-9992-757C04BE924B}" type="pres">
      <dgm:prSet presAssocID="{A5E6F51A-0272-4195-BDBA-0ADC12AAAF73}" presName="node" presStyleLbl="node1" presStyleIdx="0" presStyleCnt="4">
        <dgm:presLayoutVars>
          <dgm:bulletEnabled val="1"/>
        </dgm:presLayoutVars>
      </dgm:prSet>
      <dgm:spPr/>
    </dgm:pt>
    <dgm:pt modelId="{E4D4FFB8-8F31-4703-B7EC-F822F6709869}" type="pres">
      <dgm:prSet presAssocID="{FA5C99E8-BF55-4618-9DDD-C73D0A483798}" presName="sibTrans" presStyleLbl="sibTrans2D1" presStyleIdx="0" presStyleCnt="3"/>
      <dgm:spPr/>
    </dgm:pt>
    <dgm:pt modelId="{670475B2-B5D1-4441-83F1-6008C7670007}" type="pres">
      <dgm:prSet presAssocID="{FA5C99E8-BF55-4618-9DDD-C73D0A483798}" presName="connectorText" presStyleLbl="sibTrans2D1" presStyleIdx="0" presStyleCnt="3"/>
      <dgm:spPr/>
    </dgm:pt>
    <dgm:pt modelId="{20FAD120-29BA-477D-8E96-12FE33DB341A}" type="pres">
      <dgm:prSet presAssocID="{DF6B2587-D324-4311-A380-4095391A659F}" presName="node" presStyleLbl="node1" presStyleIdx="1" presStyleCnt="4">
        <dgm:presLayoutVars>
          <dgm:bulletEnabled val="1"/>
        </dgm:presLayoutVars>
      </dgm:prSet>
      <dgm:spPr/>
    </dgm:pt>
    <dgm:pt modelId="{6A5E4802-3E97-4272-9D8D-1A75E2D5957F}" type="pres">
      <dgm:prSet presAssocID="{E04CD881-0C01-4F6B-AD1B-EF1A3FA70D05}" presName="sibTrans" presStyleLbl="sibTrans2D1" presStyleIdx="1" presStyleCnt="3"/>
      <dgm:spPr/>
    </dgm:pt>
    <dgm:pt modelId="{4997D06F-58A4-44C3-9375-0D105B9E3FE1}" type="pres">
      <dgm:prSet presAssocID="{E04CD881-0C01-4F6B-AD1B-EF1A3FA70D05}" presName="connectorText" presStyleLbl="sibTrans2D1" presStyleIdx="1" presStyleCnt="3"/>
      <dgm:spPr/>
    </dgm:pt>
    <dgm:pt modelId="{B925B691-FA2D-439C-B033-5E643A3944C8}" type="pres">
      <dgm:prSet presAssocID="{FF000993-FCA4-4F17-9FD6-44BE7F4D26A4}" presName="node" presStyleLbl="node1" presStyleIdx="2" presStyleCnt="4">
        <dgm:presLayoutVars>
          <dgm:bulletEnabled val="1"/>
        </dgm:presLayoutVars>
      </dgm:prSet>
      <dgm:spPr/>
    </dgm:pt>
    <dgm:pt modelId="{B2C6FEAA-1B68-4B1B-92FD-26FFDE56E362}" type="pres">
      <dgm:prSet presAssocID="{F3B098CB-9036-434F-B649-98B9F298D37F}" presName="sibTrans" presStyleLbl="sibTrans2D1" presStyleIdx="2" presStyleCnt="3"/>
      <dgm:spPr/>
    </dgm:pt>
    <dgm:pt modelId="{325F6FD9-E7C2-4BF5-9C0E-5D8EF14DE4AC}" type="pres">
      <dgm:prSet presAssocID="{F3B098CB-9036-434F-B649-98B9F298D37F}" presName="connectorText" presStyleLbl="sibTrans2D1" presStyleIdx="2" presStyleCnt="3"/>
      <dgm:spPr/>
    </dgm:pt>
    <dgm:pt modelId="{B66D95CE-ECBD-44DB-9E8E-0CA368F69F5D}" type="pres">
      <dgm:prSet presAssocID="{467BECD1-C312-4E4C-A6A6-1743102BE4CD}" presName="node" presStyleLbl="node1" presStyleIdx="3" presStyleCnt="4">
        <dgm:presLayoutVars>
          <dgm:bulletEnabled val="1"/>
        </dgm:presLayoutVars>
      </dgm:prSet>
      <dgm:spPr/>
    </dgm:pt>
  </dgm:ptLst>
  <dgm:cxnLst>
    <dgm:cxn modelId="{26B76028-79B2-4647-AC76-9AE8EA9DFD98}" srcId="{C627312F-5300-48FE-8A3D-BD824CA364CC}" destId="{467BECD1-C312-4E4C-A6A6-1743102BE4CD}" srcOrd="3" destOrd="0" parTransId="{80936BF4-540A-4418-BBD5-EC9E183E8DF5}" sibTransId="{9C7BCB9A-C11D-4645-B2FB-2AEC534858A3}"/>
    <dgm:cxn modelId="{58CE0C2F-6967-4BC6-B313-9767FA69DC29}" srcId="{C627312F-5300-48FE-8A3D-BD824CA364CC}" destId="{DF6B2587-D324-4311-A380-4095391A659F}" srcOrd="1" destOrd="0" parTransId="{76937290-7DEA-4CCC-A6B9-4AEF8307C26F}" sibTransId="{E04CD881-0C01-4F6B-AD1B-EF1A3FA70D05}"/>
    <dgm:cxn modelId="{057B9830-479D-4719-86DB-A1CF4C5617AF}" srcId="{C627312F-5300-48FE-8A3D-BD824CA364CC}" destId="{FF000993-FCA4-4F17-9FD6-44BE7F4D26A4}" srcOrd="2" destOrd="0" parTransId="{D21DB999-BBE2-44FD-AD7A-A1A38940113B}" sibTransId="{F3B098CB-9036-434F-B649-98B9F298D37F}"/>
    <dgm:cxn modelId="{8C067837-F8CD-4450-8EAF-667535F833F4}" type="presOf" srcId="{F3B098CB-9036-434F-B649-98B9F298D37F}" destId="{325F6FD9-E7C2-4BF5-9C0E-5D8EF14DE4AC}" srcOrd="1" destOrd="0" presId="urn:microsoft.com/office/officeart/2005/8/layout/process1"/>
    <dgm:cxn modelId="{A64D1E3A-5052-4AB8-A427-D91C378E4D91}" type="presOf" srcId="{FA5C99E8-BF55-4618-9DDD-C73D0A483798}" destId="{E4D4FFB8-8F31-4703-B7EC-F822F6709869}" srcOrd="0" destOrd="0" presId="urn:microsoft.com/office/officeart/2005/8/layout/process1"/>
    <dgm:cxn modelId="{FBB42B70-C76C-4147-9B8C-FB17204A98E3}" type="presOf" srcId="{DF6B2587-D324-4311-A380-4095391A659F}" destId="{20FAD120-29BA-477D-8E96-12FE33DB341A}" srcOrd="0" destOrd="0" presId="urn:microsoft.com/office/officeart/2005/8/layout/process1"/>
    <dgm:cxn modelId="{53203476-9AA2-48BB-A3E9-247525D5658C}" type="presOf" srcId="{A5E6F51A-0272-4195-BDBA-0ADC12AAAF73}" destId="{B9265248-3385-4CC8-9992-757C04BE924B}" srcOrd="0" destOrd="0" presId="urn:microsoft.com/office/officeart/2005/8/layout/process1"/>
    <dgm:cxn modelId="{E7BEC182-C805-47CB-A7DD-8BE7B653ABA5}" type="presOf" srcId="{F3B098CB-9036-434F-B649-98B9F298D37F}" destId="{B2C6FEAA-1B68-4B1B-92FD-26FFDE56E362}" srcOrd="0" destOrd="0" presId="urn:microsoft.com/office/officeart/2005/8/layout/process1"/>
    <dgm:cxn modelId="{A58A43C1-8522-4201-9A07-5E04FC4C8703}" type="presOf" srcId="{E04CD881-0C01-4F6B-AD1B-EF1A3FA70D05}" destId="{6A5E4802-3E97-4272-9D8D-1A75E2D5957F}" srcOrd="0" destOrd="0" presId="urn:microsoft.com/office/officeart/2005/8/layout/process1"/>
    <dgm:cxn modelId="{DE52AAE0-1F69-4B4B-B86C-4B851899E509}" srcId="{C627312F-5300-48FE-8A3D-BD824CA364CC}" destId="{A5E6F51A-0272-4195-BDBA-0ADC12AAAF73}" srcOrd="0" destOrd="0" parTransId="{5391D3ED-87C9-4E32-8E83-6391C20E3B0E}" sibTransId="{FA5C99E8-BF55-4618-9DDD-C73D0A483798}"/>
    <dgm:cxn modelId="{82348CE3-7E6C-4F63-A3AF-5EE0AE3581C2}" type="presOf" srcId="{FF000993-FCA4-4F17-9FD6-44BE7F4D26A4}" destId="{B925B691-FA2D-439C-B033-5E643A3944C8}" srcOrd="0" destOrd="0" presId="urn:microsoft.com/office/officeart/2005/8/layout/process1"/>
    <dgm:cxn modelId="{FE1894E6-33AB-4321-BBD7-A364148A4D67}" type="presOf" srcId="{E04CD881-0C01-4F6B-AD1B-EF1A3FA70D05}" destId="{4997D06F-58A4-44C3-9375-0D105B9E3FE1}" srcOrd="1" destOrd="0" presId="urn:microsoft.com/office/officeart/2005/8/layout/process1"/>
    <dgm:cxn modelId="{151863EE-7DF0-4BC9-9758-032528347E32}" type="presOf" srcId="{FA5C99E8-BF55-4618-9DDD-C73D0A483798}" destId="{670475B2-B5D1-4441-83F1-6008C7670007}" srcOrd="1" destOrd="0" presId="urn:microsoft.com/office/officeart/2005/8/layout/process1"/>
    <dgm:cxn modelId="{8CE0D2F5-1310-4168-9093-28408EE9C864}" type="presOf" srcId="{467BECD1-C312-4E4C-A6A6-1743102BE4CD}" destId="{B66D95CE-ECBD-44DB-9E8E-0CA368F69F5D}" srcOrd="0" destOrd="0" presId="urn:microsoft.com/office/officeart/2005/8/layout/process1"/>
    <dgm:cxn modelId="{5B9ED3FC-2A63-4873-A3F2-4A5E4170528A}" type="presOf" srcId="{C627312F-5300-48FE-8A3D-BD824CA364CC}" destId="{E0F494F1-D8FA-49A4-9464-2E79210D7513}" srcOrd="0" destOrd="0" presId="urn:microsoft.com/office/officeart/2005/8/layout/process1"/>
    <dgm:cxn modelId="{9DD04EA8-6584-411E-933A-CAFA7519988E}" type="presParOf" srcId="{E0F494F1-D8FA-49A4-9464-2E79210D7513}" destId="{B9265248-3385-4CC8-9992-757C04BE924B}" srcOrd="0" destOrd="0" presId="urn:microsoft.com/office/officeart/2005/8/layout/process1"/>
    <dgm:cxn modelId="{98601BD2-7DE2-431C-84D7-28A80A034ADB}" type="presParOf" srcId="{E0F494F1-D8FA-49A4-9464-2E79210D7513}" destId="{E4D4FFB8-8F31-4703-B7EC-F822F6709869}" srcOrd="1" destOrd="0" presId="urn:microsoft.com/office/officeart/2005/8/layout/process1"/>
    <dgm:cxn modelId="{0ADF88AA-AC53-4A85-9269-B28ED4107A64}" type="presParOf" srcId="{E4D4FFB8-8F31-4703-B7EC-F822F6709869}" destId="{670475B2-B5D1-4441-83F1-6008C7670007}" srcOrd="0" destOrd="0" presId="urn:microsoft.com/office/officeart/2005/8/layout/process1"/>
    <dgm:cxn modelId="{830B9693-165C-498E-B001-36D8EB1D983E}" type="presParOf" srcId="{E0F494F1-D8FA-49A4-9464-2E79210D7513}" destId="{20FAD120-29BA-477D-8E96-12FE33DB341A}" srcOrd="2" destOrd="0" presId="urn:microsoft.com/office/officeart/2005/8/layout/process1"/>
    <dgm:cxn modelId="{23DA39BF-D6DA-4437-8FF3-0290A5E78380}" type="presParOf" srcId="{E0F494F1-D8FA-49A4-9464-2E79210D7513}" destId="{6A5E4802-3E97-4272-9D8D-1A75E2D5957F}" srcOrd="3" destOrd="0" presId="urn:microsoft.com/office/officeart/2005/8/layout/process1"/>
    <dgm:cxn modelId="{021C95CB-03B8-44F7-B7A4-19602D91BA0C}" type="presParOf" srcId="{6A5E4802-3E97-4272-9D8D-1A75E2D5957F}" destId="{4997D06F-58A4-44C3-9375-0D105B9E3FE1}" srcOrd="0" destOrd="0" presId="urn:microsoft.com/office/officeart/2005/8/layout/process1"/>
    <dgm:cxn modelId="{9029A769-4499-4373-A597-38169B68EEA7}" type="presParOf" srcId="{E0F494F1-D8FA-49A4-9464-2E79210D7513}" destId="{B925B691-FA2D-439C-B033-5E643A3944C8}" srcOrd="4" destOrd="0" presId="urn:microsoft.com/office/officeart/2005/8/layout/process1"/>
    <dgm:cxn modelId="{265B9E66-58EF-4634-AB61-EFCE8D59477E}" type="presParOf" srcId="{E0F494F1-D8FA-49A4-9464-2E79210D7513}" destId="{B2C6FEAA-1B68-4B1B-92FD-26FFDE56E362}" srcOrd="5" destOrd="0" presId="urn:microsoft.com/office/officeart/2005/8/layout/process1"/>
    <dgm:cxn modelId="{A76FE8C2-C4AE-45B2-BF3A-07B30C081855}" type="presParOf" srcId="{B2C6FEAA-1B68-4B1B-92FD-26FFDE56E362}" destId="{325F6FD9-E7C2-4BF5-9C0E-5D8EF14DE4AC}" srcOrd="0" destOrd="0" presId="urn:microsoft.com/office/officeart/2005/8/layout/process1"/>
    <dgm:cxn modelId="{EB58F7D8-F9C7-455C-AA66-39EA3763D99E}" type="presParOf" srcId="{E0F494F1-D8FA-49A4-9464-2E79210D7513}" destId="{B66D95CE-ECBD-44DB-9E8E-0CA368F69F5D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265248-3385-4CC8-9992-757C04BE924B}">
      <dsp:nvSpPr>
        <dsp:cNvPr id="0" name=""/>
        <dsp:cNvSpPr/>
      </dsp:nvSpPr>
      <dsp:spPr>
        <a:xfrm>
          <a:off x="3311" y="727906"/>
          <a:ext cx="1447991" cy="86879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 err="1"/>
            <a:t>Klijent</a:t>
          </a:r>
          <a:endParaRPr lang="en-US" sz="2400" kern="1200" dirty="0"/>
        </a:p>
      </dsp:txBody>
      <dsp:txXfrm>
        <a:off x="28757" y="753352"/>
        <a:ext cx="1397099" cy="817902"/>
      </dsp:txXfrm>
    </dsp:sp>
    <dsp:sp modelId="{E4D4FFB8-8F31-4703-B7EC-F822F6709869}">
      <dsp:nvSpPr>
        <dsp:cNvPr id="0" name=""/>
        <dsp:cNvSpPr/>
      </dsp:nvSpPr>
      <dsp:spPr>
        <a:xfrm>
          <a:off x="1596102" y="982753"/>
          <a:ext cx="306974" cy="35910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>
        <a:off x="1596102" y="1054573"/>
        <a:ext cx="214882" cy="215461"/>
      </dsp:txXfrm>
    </dsp:sp>
    <dsp:sp modelId="{20FAD120-29BA-477D-8E96-12FE33DB341A}">
      <dsp:nvSpPr>
        <dsp:cNvPr id="0" name=""/>
        <dsp:cNvSpPr/>
      </dsp:nvSpPr>
      <dsp:spPr>
        <a:xfrm>
          <a:off x="2030500" y="727906"/>
          <a:ext cx="1447991" cy="86879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API</a:t>
          </a:r>
        </a:p>
      </dsp:txBody>
      <dsp:txXfrm>
        <a:off x="2055946" y="753352"/>
        <a:ext cx="1397099" cy="817902"/>
      </dsp:txXfrm>
    </dsp:sp>
    <dsp:sp modelId="{6A5E4802-3E97-4272-9D8D-1A75E2D5957F}">
      <dsp:nvSpPr>
        <dsp:cNvPr id="0" name=""/>
        <dsp:cNvSpPr/>
      </dsp:nvSpPr>
      <dsp:spPr>
        <a:xfrm>
          <a:off x="3623290" y="982753"/>
          <a:ext cx="306974" cy="35910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>
        <a:off x="3623290" y="1054573"/>
        <a:ext cx="214882" cy="215461"/>
      </dsp:txXfrm>
    </dsp:sp>
    <dsp:sp modelId="{B925B691-FA2D-439C-B033-5E643A3944C8}">
      <dsp:nvSpPr>
        <dsp:cNvPr id="0" name=""/>
        <dsp:cNvSpPr/>
      </dsp:nvSpPr>
      <dsp:spPr>
        <a:xfrm>
          <a:off x="4057688" y="727906"/>
          <a:ext cx="1447991" cy="86879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 err="1"/>
            <a:t>Poslovna</a:t>
          </a:r>
          <a:r>
            <a:rPr lang="en-US" sz="2400" kern="1200" dirty="0"/>
            <a:t> </a:t>
          </a:r>
          <a:r>
            <a:rPr lang="en-US" sz="2400" kern="1200" dirty="0" err="1"/>
            <a:t>logika</a:t>
          </a:r>
          <a:endParaRPr lang="en-US" sz="2400" kern="1200" dirty="0"/>
        </a:p>
      </dsp:txBody>
      <dsp:txXfrm>
        <a:off x="4083134" y="753352"/>
        <a:ext cx="1397099" cy="817902"/>
      </dsp:txXfrm>
    </dsp:sp>
    <dsp:sp modelId="{B2C6FEAA-1B68-4B1B-92FD-26FFDE56E362}">
      <dsp:nvSpPr>
        <dsp:cNvPr id="0" name=""/>
        <dsp:cNvSpPr/>
      </dsp:nvSpPr>
      <dsp:spPr>
        <a:xfrm>
          <a:off x="5650479" y="982753"/>
          <a:ext cx="306974" cy="35910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>
        <a:off x="5650479" y="1054573"/>
        <a:ext cx="214882" cy="215461"/>
      </dsp:txXfrm>
    </dsp:sp>
    <dsp:sp modelId="{B66D95CE-ECBD-44DB-9E8E-0CA368F69F5D}">
      <dsp:nvSpPr>
        <dsp:cNvPr id="0" name=""/>
        <dsp:cNvSpPr/>
      </dsp:nvSpPr>
      <dsp:spPr>
        <a:xfrm>
          <a:off x="6084876" y="727906"/>
          <a:ext cx="1447991" cy="86879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Baza </a:t>
          </a:r>
          <a:r>
            <a:rPr lang="en-US" sz="2400" kern="1200" dirty="0" err="1"/>
            <a:t>podataka</a:t>
          </a:r>
          <a:endParaRPr lang="en-US" sz="2400" kern="1200" dirty="0"/>
        </a:p>
      </dsp:txBody>
      <dsp:txXfrm>
        <a:off x="6110322" y="753352"/>
        <a:ext cx="1397099" cy="8179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121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408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908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01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6/30/2026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9286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6/30/2026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375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6/30/2026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1221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4334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6296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0626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01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6232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69754D-D0F9-164B-2A71-16C2E4F5DE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914400"/>
            <a:ext cx="10780776" cy="118021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400"/>
              <a:t>Komparativna analiza REST i GraphQL pristupa u razvoju Web API sistema u .NET okruženju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E495065-8864-87FB-2BCC-254769963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1C4B477C-BC04-F74E-6565-40A5EA30312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576" r="4576"/>
          <a:stretch>
            <a:fillRect/>
          </a:stretch>
        </p:blipFill>
        <p:spPr>
          <a:xfrm>
            <a:off x="800099" y="2249423"/>
            <a:ext cx="4972627" cy="3913631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85206CFE-09C7-2D4C-07BF-8676A43B3A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0" y="2249424"/>
            <a:ext cx="5394960" cy="3913632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Master rad</a:t>
            </a:r>
            <a:br>
              <a:rPr lang="en-US" dirty="0"/>
            </a:br>
            <a:r>
              <a:rPr lang="en-US" dirty="0"/>
              <a:t>Student: Miloš Veljanovski</a:t>
            </a:r>
            <a:br>
              <a:rPr lang="en-US" dirty="0"/>
            </a:br>
            <a:r>
              <a:rPr lang="en-US" dirty="0"/>
              <a:t>Mentor: doc. dr Petar Rajković</a:t>
            </a:r>
            <a:br>
              <a:rPr lang="en-US" dirty="0"/>
            </a:br>
            <a:r>
              <a:rPr lang="en-US" dirty="0" err="1"/>
              <a:t>Elektronski</a:t>
            </a:r>
            <a:r>
              <a:rPr lang="en-US" dirty="0"/>
              <a:t> </a:t>
            </a:r>
            <a:r>
              <a:rPr lang="en-US" dirty="0" err="1"/>
              <a:t>fakultet</a:t>
            </a:r>
            <a:r>
              <a:rPr lang="en-US" dirty="0"/>
              <a:t>, </a:t>
            </a:r>
            <a:r>
              <a:rPr lang="en-US" dirty="0" err="1"/>
              <a:t>Univerzitet</a:t>
            </a:r>
            <a:r>
              <a:rPr lang="en-US" dirty="0"/>
              <a:t> u </a:t>
            </a:r>
            <a:r>
              <a:rPr lang="en-US" dirty="0" err="1"/>
              <a:t>Nišu</a:t>
            </a:r>
            <a:br>
              <a:rPr lang="en-US" dirty="0"/>
            </a:br>
            <a:r>
              <a:rPr lang="en-US" dirty="0"/>
              <a:t>Jul 2026.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306AD0E-74AC-B1C1-6E78-A14CB3BF07EB}"/>
              </a:ext>
            </a:extLst>
          </p:cNvPr>
          <p:cNvSpPr/>
          <p:nvPr/>
        </p:nvSpPr>
        <p:spPr>
          <a:xfrm>
            <a:off x="5980423" y="3244334"/>
            <a:ext cx="2311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440127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F6A8D-C22B-6B7F-35C1-6F70F2A59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Polazni</a:t>
            </a:r>
            <a:r>
              <a:rPr lang="en-US" dirty="0"/>
              <a:t> problem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AE4EB08-95B1-BE27-AB7A-6C1F97B18E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REST </a:t>
            </a:r>
            <a:r>
              <a:rPr lang="en-US" b="1" dirty="0" err="1"/>
              <a:t>i</a:t>
            </a:r>
            <a:r>
              <a:rPr lang="en-US" b="1" dirty="0"/>
              <a:t> </a:t>
            </a:r>
            <a:r>
              <a:rPr lang="en-US" b="1" dirty="0" err="1"/>
              <a:t>GraphQL</a:t>
            </a:r>
            <a:r>
              <a:rPr lang="en-US" b="1" dirty="0"/>
              <a:t> </a:t>
            </a:r>
            <a:r>
              <a:rPr lang="en-US" b="1" dirty="0" err="1"/>
              <a:t>rešavaju</a:t>
            </a:r>
            <a:r>
              <a:rPr lang="en-US" b="1" dirty="0"/>
              <a:t> </a:t>
            </a:r>
            <a:r>
              <a:rPr lang="en-US" b="1" dirty="0" err="1"/>
              <a:t>isti</a:t>
            </a:r>
            <a:r>
              <a:rPr lang="en-US" b="1" dirty="0"/>
              <a:t> problem, </a:t>
            </a:r>
            <a:r>
              <a:rPr lang="en-US" b="1" dirty="0" err="1"/>
              <a:t>ali</a:t>
            </a:r>
            <a:r>
              <a:rPr lang="en-US" b="1" dirty="0"/>
              <a:t> </a:t>
            </a:r>
            <a:r>
              <a:rPr lang="en-US" b="1" dirty="0" err="1"/>
              <a:t>na</a:t>
            </a:r>
            <a:r>
              <a:rPr lang="en-US" b="1" dirty="0"/>
              <a:t> </a:t>
            </a:r>
            <a:r>
              <a:rPr lang="en-US" b="1" dirty="0" err="1"/>
              <a:t>različit</a:t>
            </a:r>
            <a:r>
              <a:rPr lang="en-US" b="1" dirty="0"/>
              <a:t> </a:t>
            </a:r>
            <a:r>
              <a:rPr lang="en-US" b="1" dirty="0" err="1"/>
              <a:t>način</a:t>
            </a:r>
            <a:endParaRPr lang="en-US" dirty="0"/>
          </a:p>
          <a:p>
            <a:r>
              <a:rPr lang="en-US" dirty="0"/>
              <a:t>Web API </a:t>
            </a:r>
            <a:r>
              <a:rPr lang="en-US" dirty="0" err="1"/>
              <a:t>sloj</a:t>
            </a:r>
            <a:r>
              <a:rPr lang="en-US" dirty="0"/>
              <a:t> je </a:t>
            </a:r>
            <a:r>
              <a:rPr lang="en-US" dirty="0" err="1"/>
              <a:t>ugovor</a:t>
            </a:r>
            <a:r>
              <a:rPr lang="en-US" dirty="0"/>
              <a:t> </a:t>
            </a:r>
            <a:r>
              <a:rPr lang="en-US" dirty="0" err="1"/>
              <a:t>između</a:t>
            </a:r>
            <a:r>
              <a:rPr lang="en-US" dirty="0"/>
              <a:t> </a:t>
            </a:r>
            <a:r>
              <a:rPr lang="en-US" dirty="0" err="1"/>
              <a:t>klijenta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servera</a:t>
            </a:r>
            <a:endParaRPr lang="en-US" dirty="0"/>
          </a:p>
          <a:p>
            <a:r>
              <a:rPr lang="en-US" dirty="0"/>
              <a:t>REST: server </a:t>
            </a:r>
            <a:r>
              <a:rPr lang="en-US" dirty="0" err="1"/>
              <a:t>definiše</a:t>
            </a:r>
            <a:r>
              <a:rPr lang="en-US" dirty="0"/>
              <a:t> endpoint-e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oblik</a:t>
            </a:r>
            <a:r>
              <a:rPr lang="en-US" dirty="0"/>
              <a:t> </a:t>
            </a:r>
            <a:r>
              <a:rPr lang="en-US" dirty="0" err="1"/>
              <a:t>odgovora</a:t>
            </a:r>
            <a:endParaRPr lang="en-US" dirty="0"/>
          </a:p>
          <a:p>
            <a:r>
              <a:rPr lang="en-US" dirty="0" err="1"/>
              <a:t>GraphQL</a:t>
            </a:r>
            <a:r>
              <a:rPr lang="en-US" dirty="0"/>
              <a:t>: server </a:t>
            </a:r>
            <a:r>
              <a:rPr lang="en-US" dirty="0" err="1"/>
              <a:t>definiše</a:t>
            </a:r>
            <a:r>
              <a:rPr lang="en-US" dirty="0"/>
              <a:t> </a:t>
            </a:r>
            <a:r>
              <a:rPr lang="en-US" dirty="0" err="1"/>
              <a:t>šemu</a:t>
            </a:r>
            <a:r>
              <a:rPr lang="en-US" dirty="0"/>
              <a:t>, a </a:t>
            </a:r>
            <a:r>
              <a:rPr lang="en-US" dirty="0" err="1"/>
              <a:t>klijent</a:t>
            </a:r>
            <a:r>
              <a:rPr lang="en-US" dirty="0"/>
              <a:t> </a:t>
            </a:r>
            <a:r>
              <a:rPr lang="en-US" dirty="0" err="1"/>
              <a:t>bira</a:t>
            </a:r>
            <a:r>
              <a:rPr lang="en-US" dirty="0"/>
              <a:t> </a:t>
            </a:r>
            <a:r>
              <a:rPr lang="en-US" dirty="0" err="1"/>
              <a:t>polja</a:t>
            </a:r>
            <a:endParaRPr lang="en-US" dirty="0"/>
          </a:p>
          <a:p>
            <a:r>
              <a:rPr lang="en-US" dirty="0" err="1"/>
              <a:t>Izbor</a:t>
            </a:r>
            <a:r>
              <a:rPr lang="en-US" dirty="0"/>
              <a:t> </a:t>
            </a:r>
            <a:r>
              <a:rPr lang="en-US" dirty="0" err="1"/>
              <a:t>utiče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performanse</a:t>
            </a:r>
            <a:r>
              <a:rPr lang="en-US" dirty="0"/>
              <a:t>, </a:t>
            </a:r>
            <a:r>
              <a:rPr lang="en-US" dirty="0" err="1"/>
              <a:t>fleksibilnost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održavanje</a:t>
            </a:r>
            <a:r>
              <a:rPr lang="en-US" dirty="0"/>
              <a:t> </a:t>
            </a:r>
            <a:r>
              <a:rPr lang="en-US" dirty="0" err="1"/>
              <a:t>sistema</a:t>
            </a:r>
            <a:endParaRPr lang="en-US" dirty="0"/>
          </a:p>
          <a:p>
            <a:endParaRPr lang="en-US" dirty="0"/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E7D6E377-7035-12B9-6D99-F34B27DCDB6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93984869"/>
              </p:ext>
            </p:extLst>
          </p:nvPr>
        </p:nvGraphicFramePr>
        <p:xfrm>
          <a:off x="1644396" y="4091940"/>
          <a:ext cx="7536180" cy="23246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975421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9C4DB-8360-9C0C-8025-9D6CCE36C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Motivacija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5F6F0-750B-DD19-A926-0916966731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 err="1"/>
              <a:t>Zašto</a:t>
            </a:r>
            <a:r>
              <a:rPr lang="en-US" b="1" dirty="0"/>
              <a:t> je </a:t>
            </a:r>
            <a:r>
              <a:rPr lang="en-US" b="1" dirty="0" err="1"/>
              <a:t>poređenje</a:t>
            </a:r>
            <a:r>
              <a:rPr lang="en-US" b="1" dirty="0"/>
              <a:t> </a:t>
            </a:r>
            <a:r>
              <a:rPr lang="en-US" b="1" dirty="0" err="1"/>
              <a:t>potrebno</a:t>
            </a:r>
            <a:r>
              <a:rPr lang="en-US" b="1" dirty="0"/>
              <a:t>?</a:t>
            </a:r>
            <a:endParaRPr lang="en-US" dirty="0"/>
          </a:p>
          <a:p>
            <a:r>
              <a:rPr lang="en-US" dirty="0"/>
              <a:t>U </a:t>
            </a:r>
            <a:r>
              <a:rPr lang="en-US" dirty="0" err="1"/>
              <a:t>praksi</a:t>
            </a:r>
            <a:r>
              <a:rPr lang="en-US" dirty="0"/>
              <a:t> se </a:t>
            </a:r>
            <a:r>
              <a:rPr lang="en-US" dirty="0" err="1"/>
              <a:t>često</a:t>
            </a:r>
            <a:r>
              <a:rPr lang="en-US" dirty="0"/>
              <a:t> </a:t>
            </a:r>
            <a:r>
              <a:rPr lang="en-US" dirty="0" err="1"/>
              <a:t>koriste</a:t>
            </a:r>
            <a:r>
              <a:rPr lang="en-US" dirty="0"/>
              <a:t> </a:t>
            </a:r>
            <a:r>
              <a:rPr lang="en-US" dirty="0" err="1"/>
              <a:t>pojednostavljene</a:t>
            </a:r>
            <a:r>
              <a:rPr lang="en-US" dirty="0"/>
              <a:t> </a:t>
            </a:r>
            <a:r>
              <a:rPr lang="en-US" dirty="0" err="1"/>
              <a:t>tvrdnje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„REST je </a:t>
            </a:r>
            <a:r>
              <a:rPr lang="en-US" dirty="0" err="1"/>
              <a:t>brži</a:t>
            </a:r>
            <a:r>
              <a:rPr lang="en-US" dirty="0"/>
              <a:t>”</a:t>
            </a:r>
          </a:p>
          <a:p>
            <a:pPr lvl="1"/>
            <a:r>
              <a:rPr lang="en-US" dirty="0"/>
              <a:t>„</a:t>
            </a:r>
            <a:r>
              <a:rPr lang="en-US" dirty="0" err="1"/>
              <a:t>GraphQL</a:t>
            </a:r>
            <a:r>
              <a:rPr lang="en-US" dirty="0"/>
              <a:t> je </a:t>
            </a:r>
            <a:r>
              <a:rPr lang="en-US" dirty="0" err="1"/>
              <a:t>fleksibilniji</a:t>
            </a:r>
            <a:r>
              <a:rPr lang="en-US" dirty="0"/>
              <a:t>”</a:t>
            </a:r>
          </a:p>
          <a:p>
            <a:r>
              <a:rPr lang="en-US" dirty="0" err="1"/>
              <a:t>Takva</a:t>
            </a:r>
            <a:r>
              <a:rPr lang="en-US" dirty="0"/>
              <a:t> </a:t>
            </a:r>
            <a:r>
              <a:rPr lang="en-US" dirty="0" err="1"/>
              <a:t>poređenja</a:t>
            </a:r>
            <a:r>
              <a:rPr lang="en-US" dirty="0"/>
              <a:t> </a:t>
            </a:r>
            <a:r>
              <a:rPr lang="en-US" dirty="0" err="1"/>
              <a:t>često</a:t>
            </a:r>
            <a:r>
              <a:rPr lang="en-US" dirty="0"/>
              <a:t> </a:t>
            </a:r>
            <a:r>
              <a:rPr lang="en-US" dirty="0" err="1"/>
              <a:t>nisu</a:t>
            </a:r>
            <a:r>
              <a:rPr lang="en-US" dirty="0"/>
              <a:t> fer</a:t>
            </a:r>
          </a:p>
          <a:p>
            <a:r>
              <a:rPr lang="en-US" dirty="0" err="1"/>
              <a:t>Razlike</a:t>
            </a:r>
            <a:r>
              <a:rPr lang="en-US" dirty="0"/>
              <a:t> </a:t>
            </a:r>
            <a:r>
              <a:rPr lang="en-US" dirty="0" err="1"/>
              <a:t>mogu</a:t>
            </a:r>
            <a:r>
              <a:rPr lang="en-US" dirty="0"/>
              <a:t> </a:t>
            </a:r>
            <a:r>
              <a:rPr lang="en-US" dirty="0" err="1"/>
              <a:t>poticati</a:t>
            </a:r>
            <a:r>
              <a:rPr lang="en-US" dirty="0"/>
              <a:t> </a:t>
            </a:r>
            <a:r>
              <a:rPr lang="en-US" dirty="0" err="1"/>
              <a:t>iz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različite</a:t>
            </a:r>
            <a:r>
              <a:rPr lang="en-US" dirty="0"/>
              <a:t> </a:t>
            </a:r>
            <a:r>
              <a:rPr lang="en-US" dirty="0" err="1"/>
              <a:t>poslovne</a:t>
            </a:r>
            <a:r>
              <a:rPr lang="en-US" dirty="0"/>
              <a:t> </a:t>
            </a:r>
            <a:r>
              <a:rPr lang="en-US" dirty="0" err="1"/>
              <a:t>logike</a:t>
            </a:r>
            <a:endParaRPr lang="en-US" dirty="0"/>
          </a:p>
          <a:p>
            <a:pPr lvl="1"/>
            <a:r>
              <a:rPr lang="en-US" dirty="0" err="1"/>
              <a:t>različitih</a:t>
            </a:r>
            <a:r>
              <a:rPr lang="en-US" dirty="0"/>
              <a:t> </a:t>
            </a:r>
            <a:r>
              <a:rPr lang="en-US" dirty="0" err="1"/>
              <a:t>modela</a:t>
            </a:r>
            <a:r>
              <a:rPr lang="en-US" dirty="0"/>
              <a:t> </a:t>
            </a:r>
            <a:r>
              <a:rPr lang="en-US" dirty="0" err="1"/>
              <a:t>podataka</a:t>
            </a:r>
            <a:endParaRPr lang="en-US" dirty="0"/>
          </a:p>
          <a:p>
            <a:pPr lvl="1"/>
            <a:r>
              <a:rPr lang="en-US" dirty="0" err="1"/>
              <a:t>različitog</a:t>
            </a:r>
            <a:r>
              <a:rPr lang="en-US" dirty="0"/>
              <a:t> </a:t>
            </a:r>
            <a:r>
              <a:rPr lang="en-US" dirty="0" err="1"/>
              <a:t>kvaliteta</a:t>
            </a:r>
            <a:r>
              <a:rPr lang="en-US" dirty="0"/>
              <a:t> </a:t>
            </a:r>
            <a:r>
              <a:rPr lang="en-US" dirty="0" err="1"/>
              <a:t>implementacije</a:t>
            </a:r>
            <a:endParaRPr lang="en-US" dirty="0"/>
          </a:p>
          <a:p>
            <a:r>
              <a:rPr lang="en-US" dirty="0" err="1"/>
              <a:t>Zato</a:t>
            </a:r>
            <a:r>
              <a:rPr lang="en-US" dirty="0"/>
              <a:t> je </a:t>
            </a:r>
            <a:r>
              <a:rPr lang="en-US" dirty="0" err="1"/>
              <a:t>potrebno</a:t>
            </a:r>
            <a:r>
              <a:rPr lang="en-US" dirty="0"/>
              <a:t> </a:t>
            </a:r>
            <a:r>
              <a:rPr lang="en-US" dirty="0" err="1"/>
              <a:t>kontrolisano</a:t>
            </a:r>
            <a:r>
              <a:rPr lang="en-US" dirty="0"/>
              <a:t> </a:t>
            </a:r>
            <a:r>
              <a:rPr lang="en-US" dirty="0" err="1"/>
              <a:t>eksperimentalno</a:t>
            </a:r>
            <a:r>
              <a:rPr lang="en-US" dirty="0"/>
              <a:t> </a:t>
            </a:r>
            <a:r>
              <a:rPr lang="en-US" dirty="0" err="1"/>
              <a:t>poređenje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14801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22EC8-F235-E430-6716-AAB3D9CBE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Cilj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5FC7BA-C4B5-9BE7-E5A3-91B18ECC5D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err="1"/>
              <a:t>Cilj</a:t>
            </a:r>
            <a:r>
              <a:rPr lang="en-US" b="1" dirty="0"/>
              <a:t> rada</a:t>
            </a:r>
            <a:endParaRPr lang="en-US" dirty="0"/>
          </a:p>
          <a:p>
            <a:r>
              <a:rPr lang="en-US" dirty="0" err="1"/>
              <a:t>Uporediti</a:t>
            </a:r>
            <a:r>
              <a:rPr lang="en-US" dirty="0"/>
              <a:t> REST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GraphQL</a:t>
            </a:r>
            <a:r>
              <a:rPr lang="en-US" dirty="0"/>
              <a:t> u .NET </a:t>
            </a:r>
            <a:r>
              <a:rPr lang="en-US" dirty="0" err="1"/>
              <a:t>okruženju</a:t>
            </a:r>
            <a:r>
              <a:rPr lang="en-US" dirty="0"/>
              <a:t> </a:t>
            </a:r>
            <a:r>
              <a:rPr lang="en-US" dirty="0" err="1"/>
              <a:t>kroz</a:t>
            </a:r>
            <a:r>
              <a:rPr lang="en-US" dirty="0"/>
              <a:t>:</a:t>
            </a:r>
          </a:p>
          <a:p>
            <a:r>
              <a:rPr lang="en-US" dirty="0" err="1"/>
              <a:t>teorijsku</a:t>
            </a:r>
            <a:r>
              <a:rPr lang="en-US" dirty="0"/>
              <a:t> </a:t>
            </a:r>
            <a:r>
              <a:rPr lang="en-US" dirty="0" err="1"/>
              <a:t>analizu</a:t>
            </a:r>
            <a:endParaRPr lang="en-US" dirty="0"/>
          </a:p>
          <a:p>
            <a:r>
              <a:rPr lang="en-US" dirty="0" err="1"/>
              <a:t>praktičnu</a:t>
            </a:r>
            <a:r>
              <a:rPr lang="en-US" dirty="0"/>
              <a:t> </a:t>
            </a:r>
            <a:r>
              <a:rPr lang="en-US" dirty="0" err="1"/>
              <a:t>implementaciju</a:t>
            </a:r>
            <a:endParaRPr lang="en-US" dirty="0"/>
          </a:p>
          <a:p>
            <a:r>
              <a:rPr lang="en-US" dirty="0"/>
              <a:t>benchmark </a:t>
            </a:r>
            <a:r>
              <a:rPr lang="en-US" dirty="0" err="1"/>
              <a:t>testiranje</a:t>
            </a:r>
            <a:endParaRPr lang="en-US" dirty="0"/>
          </a:p>
          <a:p>
            <a:r>
              <a:rPr lang="en-US" dirty="0" err="1"/>
              <a:t>tumačenje</a:t>
            </a:r>
            <a:r>
              <a:rPr lang="en-US" dirty="0"/>
              <a:t> </a:t>
            </a:r>
            <a:r>
              <a:rPr lang="en-US" dirty="0" err="1"/>
              <a:t>rezultata</a:t>
            </a:r>
            <a:r>
              <a:rPr lang="en-US" dirty="0"/>
              <a:t> po </a:t>
            </a:r>
            <a:r>
              <a:rPr lang="en-US" dirty="0" err="1"/>
              <a:t>scenarijima</a:t>
            </a:r>
            <a:endParaRPr lang="en-US" dirty="0"/>
          </a:p>
          <a:p>
            <a:pPr marL="0" indent="0">
              <a:buNone/>
            </a:pPr>
            <a:r>
              <a:rPr lang="en-US" b="1" dirty="0" err="1"/>
              <a:t>Glavno</a:t>
            </a:r>
            <a:r>
              <a:rPr lang="en-US" b="1" dirty="0"/>
              <a:t> </a:t>
            </a:r>
            <a:r>
              <a:rPr lang="en-US" b="1" dirty="0" err="1"/>
              <a:t>pitanje</a:t>
            </a:r>
            <a:endParaRPr lang="en-US" dirty="0"/>
          </a:p>
          <a:p>
            <a:r>
              <a:rPr lang="en-US" dirty="0"/>
              <a:t>Kada REST </a:t>
            </a:r>
            <a:r>
              <a:rPr lang="en-US" dirty="0" err="1"/>
              <a:t>ima</a:t>
            </a:r>
            <a:r>
              <a:rPr lang="en-US" dirty="0"/>
              <a:t> </a:t>
            </a:r>
            <a:r>
              <a:rPr lang="en-US" dirty="0" err="1"/>
              <a:t>prednost</a:t>
            </a:r>
            <a:r>
              <a:rPr lang="en-US" dirty="0"/>
              <a:t>, a </a:t>
            </a:r>
            <a:r>
              <a:rPr lang="en-US" dirty="0" err="1"/>
              <a:t>kada</a:t>
            </a:r>
            <a:r>
              <a:rPr lang="en-US" dirty="0"/>
              <a:t> </a:t>
            </a:r>
            <a:r>
              <a:rPr lang="en-US" dirty="0" err="1"/>
              <a:t>GraphQL</a:t>
            </a:r>
            <a:r>
              <a:rPr lang="en-US" dirty="0"/>
              <a:t> </a:t>
            </a:r>
            <a:r>
              <a:rPr lang="en-US" dirty="0" err="1"/>
              <a:t>opravdava</a:t>
            </a:r>
            <a:r>
              <a:rPr lang="en-US" dirty="0"/>
              <a:t> </a:t>
            </a:r>
            <a:r>
              <a:rPr lang="en-US" dirty="0" err="1"/>
              <a:t>svoju</a:t>
            </a:r>
            <a:r>
              <a:rPr lang="en-US" dirty="0"/>
              <a:t> </a:t>
            </a:r>
            <a:r>
              <a:rPr lang="en-US" dirty="0" err="1"/>
              <a:t>dodatnu</a:t>
            </a:r>
            <a:r>
              <a:rPr lang="en-US" dirty="0"/>
              <a:t> </a:t>
            </a:r>
            <a:r>
              <a:rPr lang="en-US" dirty="0" err="1"/>
              <a:t>složenost</a:t>
            </a:r>
            <a:r>
              <a:rPr lang="en-US" dirty="0"/>
              <a:t>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94685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C9A8B-118C-19D5-5845-F20841F58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Teorijska</a:t>
            </a:r>
            <a:r>
              <a:rPr lang="en-US" dirty="0"/>
              <a:t> </a:t>
            </a:r>
            <a:r>
              <a:rPr lang="en-US" dirty="0" err="1"/>
              <a:t>razlika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FE1B5F-A8C3-A8EF-33F5-6802169D7D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EE784A-3DC1-C205-574E-A4717C41D7A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 err="1"/>
              <a:t>Resursi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endpoint-I</a:t>
            </a:r>
          </a:p>
          <a:p>
            <a:r>
              <a:rPr lang="en-US" dirty="0"/>
              <a:t>HTTP </a:t>
            </a:r>
            <a:r>
              <a:rPr lang="en-US" dirty="0" err="1"/>
              <a:t>metode</a:t>
            </a:r>
            <a:r>
              <a:rPr lang="en-US" dirty="0"/>
              <a:t>: GET, POST, PUT, DELETE</a:t>
            </a:r>
          </a:p>
          <a:p>
            <a:r>
              <a:rPr lang="en-US" dirty="0"/>
              <a:t>Server </a:t>
            </a:r>
            <a:r>
              <a:rPr lang="en-US" dirty="0" err="1"/>
              <a:t>definiše</a:t>
            </a:r>
            <a:r>
              <a:rPr lang="en-US" dirty="0"/>
              <a:t> </a:t>
            </a:r>
            <a:r>
              <a:rPr lang="en-US" dirty="0" err="1"/>
              <a:t>oblik</a:t>
            </a:r>
            <a:r>
              <a:rPr lang="en-US" dirty="0"/>
              <a:t> </a:t>
            </a:r>
            <a:r>
              <a:rPr lang="en-US" dirty="0" err="1"/>
              <a:t>odgovora</a:t>
            </a:r>
            <a:endParaRPr lang="en-US" dirty="0"/>
          </a:p>
          <a:p>
            <a:r>
              <a:rPr lang="en-US" dirty="0" err="1"/>
              <a:t>Jednostavniji</a:t>
            </a:r>
            <a:r>
              <a:rPr lang="en-US" dirty="0"/>
              <a:t> execution model</a:t>
            </a:r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2F81B8-77E0-B5F4-0295-168E9FE7AC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err="1"/>
              <a:t>GraphQL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247EE9-5C72-D442-D60F-357A74919D7D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 err="1"/>
              <a:t>Šema</a:t>
            </a:r>
            <a:r>
              <a:rPr lang="en-US" dirty="0"/>
              <a:t>, </a:t>
            </a:r>
            <a:r>
              <a:rPr lang="en-US" dirty="0" err="1"/>
              <a:t>tipovi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upiti</a:t>
            </a:r>
            <a:endParaRPr lang="en-US" dirty="0"/>
          </a:p>
          <a:p>
            <a:r>
              <a:rPr lang="en-US" dirty="0" err="1"/>
              <a:t>Najčešće</a:t>
            </a:r>
            <a:r>
              <a:rPr lang="en-US" dirty="0"/>
              <a:t> </a:t>
            </a:r>
            <a:r>
              <a:rPr lang="en-US" dirty="0" err="1"/>
              <a:t>jedan</a:t>
            </a:r>
            <a:r>
              <a:rPr lang="en-US" dirty="0"/>
              <a:t> endpoint</a:t>
            </a:r>
          </a:p>
          <a:p>
            <a:r>
              <a:rPr lang="en-US" dirty="0" err="1"/>
              <a:t>Klijent</a:t>
            </a:r>
            <a:r>
              <a:rPr lang="en-US" dirty="0"/>
              <a:t> </a:t>
            </a:r>
            <a:r>
              <a:rPr lang="en-US" dirty="0" err="1"/>
              <a:t>definiše</a:t>
            </a:r>
            <a:r>
              <a:rPr lang="en-US" dirty="0"/>
              <a:t> selection set</a:t>
            </a:r>
          </a:p>
          <a:p>
            <a:r>
              <a:rPr lang="en-US" dirty="0" err="1"/>
              <a:t>Veća</a:t>
            </a:r>
            <a:r>
              <a:rPr lang="en-US" dirty="0"/>
              <a:t> </a:t>
            </a:r>
            <a:r>
              <a:rPr lang="en-US" dirty="0" err="1"/>
              <a:t>fleksibilnost</a:t>
            </a:r>
            <a:r>
              <a:rPr lang="en-US" dirty="0"/>
              <a:t>, </a:t>
            </a:r>
            <a:r>
              <a:rPr lang="en-US" dirty="0" err="1"/>
              <a:t>ali</a:t>
            </a:r>
            <a:r>
              <a:rPr lang="en-US" dirty="0"/>
              <a:t> </a:t>
            </a:r>
            <a:r>
              <a:rPr lang="en-US" dirty="0" err="1"/>
              <a:t>složenije</a:t>
            </a:r>
            <a:r>
              <a:rPr lang="en-US" dirty="0"/>
              <a:t> </a:t>
            </a:r>
            <a:r>
              <a:rPr lang="en-US" dirty="0" err="1"/>
              <a:t>izvršavanje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808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54DCF-92F0-CF94-BDC7-F7EE19842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F06B1-CB32-FF25-04D6-A835354F4E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4AD876-9749-3AFC-C547-3068616A65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6985"/>
            <a:ext cx="12192000" cy="6024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6971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8EA44-B242-FC6F-94AF-A3D5A421A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85D185-DF3F-9093-1277-336482C74D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859DF1-655B-6254-F064-A8990703CC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2962"/>
            <a:ext cx="12192000" cy="5832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21967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C87CA-2A8E-5F24-6619-AC14320F7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E934B2-AA19-8B4D-BAAC-2C1852DD00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3C00F74-844D-38B5-8450-FF2C04014A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9618"/>
            <a:ext cx="12192000" cy="5478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54036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73E72-FAC6-C686-D6F5-EF789261E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Praktični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: CommerceHub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D31B74-42E7-CADD-D0D2-D6BF451E30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CommerceHub</a:t>
            </a:r>
            <a:endParaRPr lang="en-US" dirty="0"/>
          </a:p>
          <a:p>
            <a:r>
              <a:rPr lang="en-US" dirty="0" err="1"/>
              <a:t>Eksperimentalni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za </a:t>
            </a:r>
            <a:r>
              <a:rPr lang="en-US" dirty="0" err="1"/>
              <a:t>poređenje</a:t>
            </a:r>
            <a:r>
              <a:rPr lang="en-US" dirty="0"/>
              <a:t> API </a:t>
            </a:r>
            <a:r>
              <a:rPr lang="en-US" dirty="0" err="1"/>
              <a:t>pristupa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Domen </a:t>
            </a:r>
            <a:r>
              <a:rPr lang="en-US" b="1" dirty="0" err="1"/>
              <a:t>obuhvata</a:t>
            </a:r>
            <a:r>
              <a:rPr lang="en-US" b="1" dirty="0"/>
              <a:t>: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 err="1"/>
              <a:t>Zašto</a:t>
            </a:r>
            <a:r>
              <a:rPr lang="en-US" b="1" dirty="0"/>
              <a:t> </a:t>
            </a:r>
            <a:r>
              <a:rPr lang="en-US" b="1" dirty="0" err="1"/>
              <a:t>ovaj</a:t>
            </a:r>
            <a:r>
              <a:rPr lang="en-US" b="1" dirty="0"/>
              <a:t> </a:t>
            </a:r>
            <a:r>
              <a:rPr lang="en-US" b="1" dirty="0" err="1"/>
              <a:t>domen</a:t>
            </a:r>
            <a:r>
              <a:rPr lang="en-US" b="1" dirty="0"/>
              <a:t>?</a:t>
            </a:r>
            <a:endParaRPr lang="en-US" dirty="0"/>
          </a:p>
          <a:p>
            <a:r>
              <a:rPr lang="en-US" dirty="0" err="1"/>
              <a:t>dovoljno</a:t>
            </a:r>
            <a:r>
              <a:rPr lang="en-US" dirty="0"/>
              <a:t> </a:t>
            </a:r>
            <a:r>
              <a:rPr lang="en-US" dirty="0" err="1"/>
              <a:t>jednostavan</a:t>
            </a:r>
            <a:r>
              <a:rPr lang="en-US" dirty="0"/>
              <a:t> za </a:t>
            </a:r>
            <a:r>
              <a:rPr lang="en-US" dirty="0" err="1"/>
              <a:t>razumevanje</a:t>
            </a:r>
            <a:endParaRPr lang="en-US" dirty="0"/>
          </a:p>
          <a:p>
            <a:r>
              <a:rPr lang="en-US" dirty="0" err="1"/>
              <a:t>dovoljno</a:t>
            </a:r>
            <a:r>
              <a:rPr lang="en-US" dirty="0"/>
              <a:t> </a:t>
            </a:r>
            <a:r>
              <a:rPr lang="en-US" dirty="0" err="1"/>
              <a:t>bogat</a:t>
            </a:r>
            <a:r>
              <a:rPr lang="en-US" dirty="0"/>
              <a:t> za </a:t>
            </a:r>
            <a:r>
              <a:rPr lang="en-US" dirty="0" err="1"/>
              <a:t>povezane</a:t>
            </a:r>
            <a:r>
              <a:rPr lang="en-US" dirty="0"/>
              <a:t> </a:t>
            </a:r>
            <a:r>
              <a:rPr lang="en-US" dirty="0" err="1"/>
              <a:t>podatke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liste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BFA955C0-4EE5-34F0-407C-044BBC6E5EB5}"/>
              </a:ext>
            </a:extLst>
          </p:cNvPr>
          <p:cNvSpPr txBox="1">
            <a:spLocks/>
          </p:cNvSpPr>
          <p:nvPr/>
        </p:nvSpPr>
        <p:spPr>
          <a:xfrm>
            <a:off x="700635" y="3319272"/>
            <a:ext cx="8900565" cy="1399032"/>
          </a:xfrm>
          <a:prstGeom prst="rect">
            <a:avLst/>
          </a:prstGeom>
        </p:spPr>
        <p:txBody>
          <a:bodyPr vert="horz" lIns="91440" tIns="45720" rIns="91440" bIns="45720" numCol="3" rtlCol="0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/>
            <a:r>
              <a:rPr lang="en-US" sz="1700" dirty="0" err="1"/>
              <a:t>proizvode</a:t>
            </a:r>
            <a:endParaRPr lang="en-US" sz="1700" dirty="0"/>
          </a:p>
          <a:p>
            <a:pPr marL="285750" indent="-285750"/>
            <a:r>
              <a:rPr lang="en-US" sz="1700" dirty="0" err="1"/>
              <a:t>kategorije</a:t>
            </a:r>
            <a:endParaRPr lang="en-US" sz="1700" dirty="0"/>
          </a:p>
          <a:p>
            <a:pPr marL="285750" indent="-285750"/>
            <a:r>
              <a:rPr lang="en-US" sz="1700" dirty="0" err="1"/>
              <a:t>kupce</a:t>
            </a:r>
            <a:endParaRPr lang="en-US" sz="1700" dirty="0"/>
          </a:p>
          <a:p>
            <a:pPr marL="285750" indent="-285750"/>
            <a:r>
              <a:rPr lang="en-US" sz="1700" dirty="0" err="1"/>
              <a:t>porudžbine</a:t>
            </a:r>
            <a:endParaRPr lang="en-US" sz="1700" dirty="0"/>
          </a:p>
          <a:p>
            <a:pPr marL="285750" indent="-285750"/>
            <a:r>
              <a:rPr lang="en-US" sz="1700" dirty="0" err="1"/>
              <a:t>stavke</a:t>
            </a:r>
            <a:r>
              <a:rPr lang="en-US" sz="1700" dirty="0"/>
              <a:t> </a:t>
            </a:r>
            <a:r>
              <a:rPr lang="en-US" sz="1700" dirty="0" err="1"/>
              <a:t>porudžbina</a:t>
            </a:r>
            <a:endParaRPr lang="en-US" sz="1700" dirty="0"/>
          </a:p>
          <a:p>
            <a:pPr marL="285750" indent="-285750"/>
            <a:r>
              <a:rPr lang="en-US" sz="1700" dirty="0" err="1"/>
              <a:t>zalihe</a:t>
            </a:r>
            <a:endParaRPr lang="en-US" sz="1700" dirty="0"/>
          </a:p>
          <a:p>
            <a:pPr marL="285750" indent="-285750"/>
            <a:r>
              <a:rPr lang="en-US" sz="1700" dirty="0" err="1"/>
              <a:t>dobavljače</a:t>
            </a:r>
            <a:endParaRPr lang="en-US" sz="1700" dirty="0"/>
          </a:p>
          <a:p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7828356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1705166-0752-B033-FD29-625622DF00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6656" y="2079135"/>
            <a:ext cx="7705344" cy="290089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0A52E15-F8CB-4123-8C5B-4FB58424F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Arhitektura</a:t>
            </a:r>
            <a:r>
              <a:rPr lang="en-US" dirty="0"/>
              <a:t> </a:t>
            </a:r>
            <a:r>
              <a:rPr lang="en-US" dirty="0" err="1"/>
              <a:t>rešenja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127829-57F8-48F2-03B0-7D8A86F88B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 err="1"/>
              <a:t>Ključna</a:t>
            </a:r>
            <a:r>
              <a:rPr lang="en-US" b="1" dirty="0"/>
              <a:t> </a:t>
            </a:r>
            <a:r>
              <a:rPr lang="en-US" b="1" dirty="0" err="1"/>
              <a:t>odlika</a:t>
            </a:r>
            <a:r>
              <a:rPr lang="en-US" b="1" dirty="0"/>
              <a:t> rada: </a:t>
            </a:r>
            <a:r>
              <a:rPr lang="en-US" b="1" dirty="0" err="1"/>
              <a:t>isti</a:t>
            </a:r>
            <a:r>
              <a:rPr lang="en-US" b="1" dirty="0"/>
              <a:t> </a:t>
            </a:r>
            <a:r>
              <a:rPr lang="en-US" b="1" dirty="0" err="1"/>
              <a:t>poslovni</a:t>
            </a:r>
            <a:r>
              <a:rPr lang="en-US" b="1" dirty="0"/>
              <a:t> </a:t>
            </a:r>
            <a:r>
              <a:rPr lang="en-US" b="1" dirty="0" err="1"/>
              <a:t>sloj</a:t>
            </a:r>
            <a:endParaRPr lang="en-US" dirty="0"/>
          </a:p>
          <a:p>
            <a:r>
              <a:rPr lang="en-US" dirty="0"/>
              <a:t>REST API </a:t>
            </a:r>
            <a:r>
              <a:rPr lang="en-US" dirty="0" err="1"/>
              <a:t>sloj</a:t>
            </a:r>
            <a:endParaRPr lang="en-US" dirty="0"/>
          </a:p>
          <a:p>
            <a:r>
              <a:rPr lang="en-US" dirty="0" err="1"/>
              <a:t>GraphQL</a:t>
            </a:r>
            <a:r>
              <a:rPr lang="en-US" dirty="0"/>
              <a:t> API </a:t>
            </a:r>
            <a:r>
              <a:rPr lang="en-US" dirty="0" err="1"/>
              <a:t>sloj</a:t>
            </a:r>
            <a:endParaRPr lang="en-US" dirty="0"/>
          </a:p>
          <a:p>
            <a:r>
              <a:rPr lang="en-US" dirty="0" err="1"/>
              <a:t>zajednički</a:t>
            </a:r>
            <a:r>
              <a:rPr lang="en-US" dirty="0"/>
              <a:t> application </a:t>
            </a:r>
            <a:r>
              <a:rPr lang="en-US" dirty="0" err="1"/>
              <a:t>sloj</a:t>
            </a:r>
            <a:endParaRPr lang="en-US" dirty="0"/>
          </a:p>
          <a:p>
            <a:r>
              <a:rPr lang="en-US" dirty="0" err="1"/>
              <a:t>zajednički</a:t>
            </a:r>
            <a:r>
              <a:rPr lang="en-US" dirty="0"/>
              <a:t> </a:t>
            </a:r>
            <a:r>
              <a:rPr lang="en-US" dirty="0" err="1"/>
              <a:t>domen</a:t>
            </a:r>
            <a:endParaRPr lang="en-US" dirty="0"/>
          </a:p>
          <a:p>
            <a:r>
              <a:rPr lang="en-US" dirty="0" err="1"/>
              <a:t>zajednička</a:t>
            </a:r>
            <a:r>
              <a:rPr lang="en-US" dirty="0"/>
              <a:t> PostgreSQL </a:t>
            </a:r>
            <a:r>
              <a:rPr lang="en-US" dirty="0" err="1"/>
              <a:t>baza</a:t>
            </a:r>
            <a:endParaRPr lang="en-US" dirty="0"/>
          </a:p>
          <a:p>
            <a:pPr marL="0" indent="0">
              <a:buNone/>
            </a:pPr>
            <a:r>
              <a:rPr lang="en-US" b="1" dirty="0" err="1"/>
              <a:t>Tehnologije</a:t>
            </a:r>
            <a:endParaRPr lang="en-US" dirty="0"/>
          </a:p>
          <a:p>
            <a:r>
              <a:rPr lang="en-US" dirty="0"/>
              <a:t>.NET 10, ASP.NET Core Minimal APIs, </a:t>
            </a:r>
            <a:r>
              <a:rPr lang="en-US" dirty="0" err="1"/>
              <a:t>HotChocolate</a:t>
            </a:r>
            <a:r>
              <a:rPr lang="en-US" dirty="0"/>
              <a:t>, EF Core, PostgreSQL, .NET Aspire, </a:t>
            </a:r>
            <a:r>
              <a:rPr lang="en-US" dirty="0" err="1"/>
              <a:t>OpenTelemetry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27521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8D6D5-C2B6-CB9C-384E-2B5984C2C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Tok </a:t>
            </a:r>
            <a:r>
              <a:rPr lang="en-US" dirty="0" err="1"/>
              <a:t>izvršavanja</a:t>
            </a:r>
            <a:r>
              <a:rPr lang="en-US" dirty="0"/>
              <a:t> </a:t>
            </a:r>
            <a:r>
              <a:rPr lang="en-US" dirty="0" err="1"/>
              <a:t>zahteva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EB0B8E-3FE1-36A0-C4AD-6C9FFE7D18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REST </a:t>
            </a:r>
            <a:r>
              <a:rPr lang="en-US" dirty="0" err="1"/>
              <a:t>tok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0147E0-B6CA-1C55-6E6A-BF672CD1363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HTTP request</a:t>
            </a:r>
            <a:br>
              <a:rPr lang="en-US" dirty="0"/>
            </a:br>
            <a:r>
              <a:rPr lang="en-US" dirty="0"/>
              <a:t>→ </a:t>
            </a:r>
            <a:r>
              <a:rPr lang="en-US" dirty="0" err="1"/>
              <a:t>rutiranje</a:t>
            </a:r>
            <a:br>
              <a:rPr lang="en-US" dirty="0"/>
            </a:br>
            <a:r>
              <a:rPr lang="en-US" dirty="0"/>
              <a:t>→ Minimal API endpoint</a:t>
            </a:r>
            <a:br>
              <a:rPr lang="en-US" dirty="0"/>
            </a:br>
            <a:r>
              <a:rPr lang="en-US" dirty="0"/>
              <a:t>→ application handler</a:t>
            </a:r>
            <a:br>
              <a:rPr lang="en-US" dirty="0"/>
            </a:br>
            <a:r>
              <a:rPr lang="en-US" dirty="0"/>
              <a:t>→ EF Core </a:t>
            </a:r>
            <a:r>
              <a:rPr lang="en-US" dirty="0" err="1"/>
              <a:t>upit</a:t>
            </a:r>
            <a:br>
              <a:rPr lang="en-US" dirty="0"/>
            </a:br>
            <a:r>
              <a:rPr lang="en-US" dirty="0"/>
              <a:t>→ JSON </a:t>
            </a:r>
            <a:r>
              <a:rPr lang="en-US" dirty="0" err="1"/>
              <a:t>odgovor</a:t>
            </a:r>
            <a:endParaRPr lang="en-US" dirty="0"/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F7961F-3665-8DA0-D193-B2ACE565AB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err="1"/>
              <a:t>GraphQL</a:t>
            </a:r>
            <a:r>
              <a:rPr lang="en-US" dirty="0"/>
              <a:t> </a:t>
            </a:r>
            <a:r>
              <a:rPr lang="en-US" dirty="0" err="1"/>
              <a:t>tok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B91E40-D8C8-34C6-4A9A-5310F065A496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HTTP request</a:t>
            </a:r>
            <a:br>
              <a:rPr lang="en-US" dirty="0"/>
            </a:br>
            <a:r>
              <a:rPr lang="en-US" dirty="0"/>
              <a:t>→ </a:t>
            </a:r>
            <a:r>
              <a:rPr lang="en-US" dirty="0" err="1"/>
              <a:t>GraphQL</a:t>
            </a:r>
            <a:r>
              <a:rPr lang="en-US" dirty="0"/>
              <a:t> </a:t>
            </a:r>
            <a:r>
              <a:rPr lang="en-US" dirty="0" err="1"/>
              <a:t>parsiranje</a:t>
            </a:r>
            <a:br>
              <a:rPr lang="en-US" dirty="0"/>
            </a:br>
            <a:r>
              <a:rPr lang="en-US" dirty="0"/>
              <a:t>→ </a:t>
            </a:r>
            <a:r>
              <a:rPr lang="sr-Latn-RS" dirty="0"/>
              <a:t>validiranje šeme</a:t>
            </a:r>
            <a:br>
              <a:rPr lang="en-US" dirty="0"/>
            </a:br>
            <a:r>
              <a:rPr lang="en-US" dirty="0"/>
              <a:t>→ </a:t>
            </a:r>
            <a:r>
              <a:rPr lang="sr-Latn-RS" dirty="0"/>
              <a:t>planiranje toka izvršenja</a:t>
            </a:r>
            <a:br>
              <a:rPr lang="en-US" dirty="0"/>
            </a:br>
            <a:r>
              <a:rPr lang="en-US" dirty="0"/>
              <a:t>→ resolver/</a:t>
            </a:r>
            <a:r>
              <a:rPr lang="sr-Latn-RS" dirty="0"/>
              <a:t>projekcija</a:t>
            </a:r>
            <a:br>
              <a:rPr lang="en-US" dirty="0"/>
            </a:br>
            <a:r>
              <a:rPr lang="en-US" dirty="0"/>
              <a:t>→ EF Core </a:t>
            </a:r>
            <a:r>
              <a:rPr lang="sr-Latn-RS" dirty="0"/>
              <a:t>upit</a:t>
            </a:r>
            <a:br>
              <a:rPr lang="en-US" dirty="0"/>
            </a:br>
            <a:r>
              <a:rPr lang="en-US" dirty="0"/>
              <a:t>→ JSON </a:t>
            </a:r>
            <a:r>
              <a:rPr lang="sr-Latn-RS" dirty="0"/>
              <a:t>odgovor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53418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87FBB-8A14-4324-BBC8-84ACF712D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4BA3B-F925-2037-8D23-1EAD58EC3A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A9AEB7-03A6-DB3C-8808-4B071399867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AAC2BE-DB2B-7FB8-82D6-21CF953ED1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DF1CDD-5CF7-463A-0DA0-95FD08F76049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097EAFF-1068-7CC4-EF10-5459722B5F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7245" y="680457"/>
            <a:ext cx="12192000" cy="4174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7738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2332C-40BA-47D1-70A3-9FC52CE02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F899AA-2F0E-55F2-B203-E9E8234240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C8B4BA-F626-6563-D479-5FCC111E73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0720"/>
            <a:ext cx="12192000" cy="5776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7798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562C6-D212-8A80-E025-CAB4281C5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Benchmark </a:t>
            </a:r>
            <a:r>
              <a:rPr lang="en-US" dirty="0" err="1"/>
              <a:t>metodologija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9EFC6C-EB98-E734-AFDC-7CF2C8A5598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Alat:</a:t>
            </a:r>
            <a:r>
              <a:rPr lang="en-US" dirty="0"/>
              <a:t> </a:t>
            </a:r>
            <a:r>
              <a:rPr lang="en-US" dirty="0" err="1"/>
              <a:t>NBomber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Mereno:</a:t>
            </a:r>
            <a:endParaRPr lang="en-US" dirty="0"/>
          </a:p>
          <a:p>
            <a:r>
              <a:rPr lang="en-US" dirty="0"/>
              <a:t>mean latency</a:t>
            </a:r>
          </a:p>
          <a:p>
            <a:r>
              <a:rPr lang="en-US" dirty="0"/>
              <a:t>p50</a:t>
            </a:r>
          </a:p>
          <a:p>
            <a:r>
              <a:rPr lang="en-US" dirty="0"/>
              <a:t>p95</a:t>
            </a:r>
          </a:p>
          <a:p>
            <a:r>
              <a:rPr lang="en-US" dirty="0"/>
              <a:t>p99</a:t>
            </a:r>
          </a:p>
          <a:p>
            <a:r>
              <a:rPr lang="en-US" dirty="0"/>
              <a:t>max latency</a:t>
            </a:r>
          </a:p>
          <a:p>
            <a:r>
              <a:rPr lang="en-US" dirty="0"/>
              <a:t>payload po </a:t>
            </a:r>
            <a:r>
              <a:rPr lang="en-US" dirty="0" err="1"/>
              <a:t>zahtevu</a:t>
            </a:r>
            <a:endParaRPr lang="en-US" dirty="0"/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2B795D-DC82-601E-8EB9-960862EEC0B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err="1"/>
              <a:t>Pravila</a:t>
            </a:r>
            <a:r>
              <a:rPr lang="en-US" b="1" dirty="0"/>
              <a:t> fer </a:t>
            </a:r>
            <a:r>
              <a:rPr lang="en-US" b="1" dirty="0" err="1"/>
              <a:t>poređenja</a:t>
            </a:r>
            <a:endParaRPr lang="en-US" dirty="0"/>
          </a:p>
          <a:p>
            <a:r>
              <a:rPr lang="en-US" dirty="0" err="1"/>
              <a:t>isti</a:t>
            </a:r>
            <a:r>
              <a:rPr lang="en-US" dirty="0"/>
              <a:t> </a:t>
            </a:r>
            <a:r>
              <a:rPr lang="en-US" dirty="0" err="1"/>
              <a:t>domen</a:t>
            </a:r>
            <a:endParaRPr lang="en-US" dirty="0"/>
          </a:p>
          <a:p>
            <a:r>
              <a:rPr lang="en-US" dirty="0" err="1"/>
              <a:t>ista</a:t>
            </a:r>
            <a:r>
              <a:rPr lang="en-US" dirty="0"/>
              <a:t> </a:t>
            </a:r>
            <a:r>
              <a:rPr lang="en-US" dirty="0" err="1"/>
              <a:t>baza</a:t>
            </a:r>
            <a:endParaRPr lang="en-US" dirty="0"/>
          </a:p>
          <a:p>
            <a:r>
              <a:rPr lang="en-US" dirty="0" err="1"/>
              <a:t>isti</a:t>
            </a:r>
            <a:r>
              <a:rPr lang="en-US" dirty="0"/>
              <a:t> application </a:t>
            </a:r>
            <a:r>
              <a:rPr lang="en-US" dirty="0" err="1"/>
              <a:t>sloj</a:t>
            </a:r>
            <a:endParaRPr lang="en-US" dirty="0"/>
          </a:p>
          <a:p>
            <a:r>
              <a:rPr lang="en-US" dirty="0"/>
              <a:t>warm-up </a:t>
            </a:r>
            <a:r>
              <a:rPr lang="en-US" dirty="0" err="1"/>
              <a:t>faza</a:t>
            </a:r>
            <a:endParaRPr lang="en-US" dirty="0"/>
          </a:p>
          <a:p>
            <a:r>
              <a:rPr lang="en-US" dirty="0" err="1"/>
              <a:t>odvojeni</a:t>
            </a:r>
            <a:r>
              <a:rPr lang="en-US" dirty="0"/>
              <a:t> REST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GraphQL</a:t>
            </a:r>
            <a:r>
              <a:rPr lang="en-US" dirty="0"/>
              <a:t> </a:t>
            </a:r>
            <a:r>
              <a:rPr lang="en-US" dirty="0" err="1"/>
              <a:t>prolazi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51216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013A14E-2788-EC52-4C2F-328A12009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Benchmark </a:t>
            </a:r>
            <a:r>
              <a:rPr lang="en-US" dirty="0" err="1"/>
              <a:t>scenariji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7D5337-062F-B38A-AF0E-6FFE8A77F5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Pet </a:t>
            </a:r>
            <a:r>
              <a:rPr lang="en-US" b="1" dirty="0" err="1"/>
              <a:t>scenarija</a:t>
            </a:r>
            <a:endParaRPr lang="en-US" dirty="0"/>
          </a:p>
          <a:p>
            <a:r>
              <a:rPr lang="en-US" dirty="0"/>
              <a:t>Simple GET</a:t>
            </a:r>
            <a:br>
              <a:rPr lang="en-US" dirty="0"/>
            </a:br>
            <a:r>
              <a:rPr lang="en-US" dirty="0" err="1"/>
              <a:t>osnovni</a:t>
            </a:r>
            <a:r>
              <a:rPr lang="en-US" dirty="0"/>
              <a:t> per-request overhead</a:t>
            </a:r>
          </a:p>
          <a:p>
            <a:r>
              <a:rPr lang="en-US" dirty="0"/>
              <a:t>Deep graph fetch</a:t>
            </a:r>
            <a:br>
              <a:rPr lang="en-US" dirty="0"/>
            </a:br>
            <a:r>
              <a:rPr lang="en-US" dirty="0" err="1"/>
              <a:t>ugnježdeni</a:t>
            </a:r>
            <a:r>
              <a:rPr lang="en-US" dirty="0"/>
              <a:t> </a:t>
            </a:r>
            <a:r>
              <a:rPr lang="en-US" dirty="0" err="1"/>
              <a:t>podaci</a:t>
            </a:r>
            <a:endParaRPr lang="en-US" dirty="0"/>
          </a:p>
          <a:p>
            <a:r>
              <a:rPr lang="en-US" dirty="0"/>
              <a:t>Over-fetching vs minimal fetching</a:t>
            </a:r>
            <a:br>
              <a:rPr lang="en-US" dirty="0"/>
            </a:br>
            <a:r>
              <a:rPr lang="en-US" dirty="0"/>
              <a:t>pun REST DTO vs </a:t>
            </a:r>
            <a:r>
              <a:rPr lang="en-US" dirty="0" err="1"/>
              <a:t>GraphQL</a:t>
            </a:r>
            <a:r>
              <a:rPr lang="en-US" dirty="0"/>
              <a:t> selection set</a:t>
            </a:r>
          </a:p>
          <a:p>
            <a:r>
              <a:rPr lang="en-US" dirty="0"/>
              <a:t>Paged product list</a:t>
            </a:r>
            <a:br>
              <a:rPr lang="en-US" dirty="0"/>
            </a:br>
            <a:r>
              <a:rPr lang="en-US" dirty="0" err="1"/>
              <a:t>lista</a:t>
            </a:r>
            <a:r>
              <a:rPr lang="en-US" dirty="0"/>
              <a:t> od 50 </a:t>
            </a:r>
            <a:r>
              <a:rPr lang="en-US" dirty="0" err="1"/>
              <a:t>proizvoda</a:t>
            </a:r>
            <a:endParaRPr lang="en-US" dirty="0"/>
          </a:p>
          <a:p>
            <a:r>
              <a:rPr lang="en-US" dirty="0"/>
              <a:t>Write + read-back</a:t>
            </a:r>
            <a:br>
              <a:rPr lang="en-US" dirty="0"/>
            </a:br>
            <a:r>
              <a:rPr lang="en-US" dirty="0" err="1"/>
              <a:t>kreiranje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ponovno</a:t>
            </a:r>
            <a:r>
              <a:rPr lang="en-US" dirty="0"/>
              <a:t> </a:t>
            </a:r>
            <a:r>
              <a:rPr lang="en-US" dirty="0" err="1"/>
              <a:t>čitanje</a:t>
            </a:r>
            <a:r>
              <a:rPr lang="en-US" dirty="0"/>
              <a:t> </a:t>
            </a:r>
            <a:r>
              <a:rPr lang="en-US" dirty="0" err="1"/>
              <a:t>porudžbine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27406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66FFA-22CF-81AC-8926-E743FD872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C8533B-C3EF-BE59-419D-285C24F3A2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6275DE-97DA-E3B4-28F5-6BA6312212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05601"/>
            <a:ext cx="12192000" cy="5446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959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1B2E0-8E68-794B-5480-92A724665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Rezultati</a:t>
            </a:r>
            <a:r>
              <a:rPr lang="en-US" dirty="0"/>
              <a:t>: </a:t>
            </a:r>
            <a:r>
              <a:rPr lang="en-US" dirty="0" err="1"/>
              <a:t>latencija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AFC60D-E971-B837-C74F-042BAACCF3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err="1"/>
              <a:t>Glavni</a:t>
            </a:r>
            <a:r>
              <a:rPr lang="en-US" b="1" dirty="0"/>
              <a:t> </a:t>
            </a:r>
            <a:r>
              <a:rPr lang="en-US" b="1" dirty="0" err="1"/>
              <a:t>rezultat</a:t>
            </a:r>
            <a:endParaRPr lang="en-US" dirty="0"/>
          </a:p>
          <a:p>
            <a:r>
              <a:rPr lang="en-US" dirty="0"/>
              <a:t>REST je </a:t>
            </a:r>
            <a:r>
              <a:rPr lang="en-US" dirty="0" err="1"/>
              <a:t>imao</a:t>
            </a:r>
            <a:r>
              <a:rPr lang="en-US" dirty="0"/>
              <a:t> </a:t>
            </a:r>
            <a:r>
              <a:rPr lang="en-US" dirty="0" err="1"/>
              <a:t>bolju</a:t>
            </a:r>
            <a:r>
              <a:rPr lang="en-US" dirty="0"/>
              <a:t> </a:t>
            </a:r>
            <a:r>
              <a:rPr lang="en-US" dirty="0" err="1"/>
              <a:t>latenciju</a:t>
            </a:r>
            <a:r>
              <a:rPr lang="en-US" dirty="0"/>
              <a:t> u 4 od 5 </a:t>
            </a:r>
            <a:r>
              <a:rPr lang="en-US" dirty="0" err="1"/>
              <a:t>scenarija</a:t>
            </a:r>
            <a:endParaRPr lang="en-US" dirty="0"/>
          </a:p>
          <a:p>
            <a:endParaRPr lang="en-US" dirty="0"/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B74A3E36-AECD-3D7D-5353-CFA33D8EF0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54337197"/>
              </p:ext>
            </p:extLst>
          </p:nvPr>
        </p:nvGraphicFramePr>
        <p:xfrm>
          <a:off x="6423025" y="3283240"/>
          <a:ext cx="5768975" cy="29284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2DD6613-04C2-BE1B-D3BA-8D9429017B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2769692"/>
              </p:ext>
            </p:extLst>
          </p:nvPr>
        </p:nvGraphicFramePr>
        <p:xfrm>
          <a:off x="654049" y="3429000"/>
          <a:ext cx="5768976" cy="276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4488">
                  <a:extLst>
                    <a:ext uri="{9D8B030D-6E8A-4147-A177-3AD203B41FA5}">
                      <a16:colId xmlns:a16="http://schemas.microsoft.com/office/drawing/2014/main" val="208430356"/>
                    </a:ext>
                  </a:extLst>
                </a:gridCol>
                <a:gridCol w="2884488">
                  <a:extLst>
                    <a:ext uri="{9D8B030D-6E8A-4147-A177-3AD203B41FA5}">
                      <a16:colId xmlns:a16="http://schemas.microsoft.com/office/drawing/2014/main" val="32557492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sr-Latn-RS" dirty="0"/>
                        <a:t>Scenario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RS" dirty="0"/>
                        <a:t>Bolji rezultat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54896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r-Latn-RS" dirty="0"/>
                        <a:t>Simple GET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RS" dirty="0"/>
                        <a:t>REST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002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r-Latn-RS" dirty="0"/>
                        <a:t>Deep graph fetch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RS" dirty="0"/>
                        <a:t>REST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32173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r-Latn-RS" dirty="0"/>
                        <a:t>Over</a:t>
                      </a:r>
                      <a:r>
                        <a:rPr lang="en-US" dirty="0"/>
                        <a:t>-fetching vs minimal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GraphQL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1329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Paged product 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58032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Write + read-back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REST </a:t>
                      </a:r>
                      <a:r>
                        <a:rPr lang="en-US" dirty="0" err="1"/>
                        <a:t>na</a:t>
                      </a:r>
                      <a:r>
                        <a:rPr lang="en-US" dirty="0"/>
                        <a:t> p50/p90, </a:t>
                      </a:r>
                      <a:r>
                        <a:rPr lang="en-US" dirty="0" err="1"/>
                        <a:t>GraphQL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bolji</a:t>
                      </a:r>
                      <a:r>
                        <a:rPr lang="en-US" dirty="0"/>
                        <a:t> u </a:t>
                      </a:r>
                      <a:r>
                        <a:rPr lang="en-US" dirty="0" err="1"/>
                        <a:t>ekstremnom</a:t>
                      </a:r>
                      <a:r>
                        <a:rPr lang="en-US" dirty="0"/>
                        <a:t> tail-u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69770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71181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34D872-78C2-12FF-5113-DB02F7813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3E02E-A20B-ACD3-4FD7-1EA5B4EC4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Rezultati</a:t>
            </a:r>
            <a:r>
              <a:rPr lang="en-US" dirty="0"/>
              <a:t>: payload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8961EE-0906-831F-36BB-B7F0C28191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2221992"/>
            <a:ext cx="5648499" cy="3739896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Payload </a:t>
            </a:r>
            <a:r>
              <a:rPr lang="en-US" b="1" dirty="0" err="1"/>
              <a:t>zaklju</a:t>
            </a:r>
            <a:r>
              <a:rPr lang="sr-Latn-RS" b="1" dirty="0"/>
              <a:t>čci</a:t>
            </a:r>
            <a:endParaRPr lang="en-US" dirty="0"/>
          </a:p>
          <a:p>
            <a:r>
              <a:rPr lang="en-US" dirty="0"/>
              <a:t>REST </a:t>
            </a:r>
            <a:r>
              <a:rPr lang="en-US" dirty="0" err="1"/>
              <a:t>ima</a:t>
            </a:r>
            <a:r>
              <a:rPr lang="en-US" dirty="0"/>
              <a:t> </a:t>
            </a:r>
            <a:r>
              <a:rPr lang="en-US" dirty="0" err="1"/>
              <a:t>manji</a:t>
            </a:r>
            <a:r>
              <a:rPr lang="en-US" dirty="0"/>
              <a:t> payload </a:t>
            </a:r>
            <a:r>
              <a:rPr lang="en-US" dirty="0" err="1"/>
              <a:t>kada</a:t>
            </a:r>
            <a:r>
              <a:rPr lang="en-US" dirty="0"/>
              <a:t> oba API-ja </a:t>
            </a:r>
            <a:r>
              <a:rPr lang="en-US" dirty="0" err="1"/>
              <a:t>vraćaju</a:t>
            </a:r>
            <a:r>
              <a:rPr lang="en-US" dirty="0"/>
              <a:t> </a:t>
            </a:r>
            <a:r>
              <a:rPr lang="en-US" dirty="0" err="1"/>
              <a:t>isti</a:t>
            </a:r>
            <a:r>
              <a:rPr lang="en-US" dirty="0"/>
              <a:t> </a:t>
            </a:r>
            <a:r>
              <a:rPr lang="en-US" dirty="0" err="1"/>
              <a:t>skup</a:t>
            </a:r>
            <a:r>
              <a:rPr lang="en-US" dirty="0"/>
              <a:t> </a:t>
            </a:r>
            <a:r>
              <a:rPr lang="en-US" dirty="0" err="1"/>
              <a:t>podataka</a:t>
            </a:r>
            <a:endParaRPr lang="en-US" dirty="0"/>
          </a:p>
          <a:p>
            <a:r>
              <a:rPr lang="en-US" dirty="0" err="1"/>
              <a:t>GraphQL</a:t>
            </a:r>
            <a:r>
              <a:rPr lang="en-US" dirty="0"/>
              <a:t> </a:t>
            </a:r>
            <a:r>
              <a:rPr lang="en-US" dirty="0" err="1"/>
              <a:t>ima</a:t>
            </a:r>
            <a:r>
              <a:rPr lang="en-US" dirty="0"/>
              <a:t> </a:t>
            </a:r>
            <a:r>
              <a:rPr lang="en-US" dirty="0" err="1"/>
              <a:t>manji</a:t>
            </a:r>
            <a:r>
              <a:rPr lang="en-US" dirty="0"/>
              <a:t> payload </a:t>
            </a:r>
            <a:r>
              <a:rPr lang="en-US" dirty="0" err="1"/>
              <a:t>kada</a:t>
            </a:r>
            <a:r>
              <a:rPr lang="en-US" dirty="0"/>
              <a:t> </a:t>
            </a:r>
            <a:r>
              <a:rPr lang="en-US" dirty="0" err="1"/>
              <a:t>koristi</a:t>
            </a:r>
            <a:r>
              <a:rPr lang="en-US" dirty="0"/>
              <a:t> selection set</a:t>
            </a:r>
          </a:p>
          <a:p>
            <a:r>
              <a:rPr lang="en-US" dirty="0" err="1"/>
              <a:t>GraphQL</a:t>
            </a:r>
            <a:r>
              <a:rPr lang="en-US" dirty="0"/>
              <a:t> response </a:t>
            </a:r>
            <a:r>
              <a:rPr lang="en-US" dirty="0" err="1"/>
              <a:t>ima</a:t>
            </a:r>
            <a:r>
              <a:rPr lang="en-US" dirty="0"/>
              <a:t> </a:t>
            </a:r>
            <a:r>
              <a:rPr lang="en-US" dirty="0" err="1"/>
              <a:t>dodatni</a:t>
            </a:r>
            <a:r>
              <a:rPr lang="en-US" dirty="0"/>
              <a:t> data envelope</a:t>
            </a:r>
          </a:p>
          <a:p>
            <a:r>
              <a:rPr lang="en-US" dirty="0" err="1"/>
              <a:t>Prednost</a:t>
            </a:r>
            <a:r>
              <a:rPr lang="en-US" dirty="0"/>
              <a:t> </a:t>
            </a:r>
            <a:r>
              <a:rPr lang="en-US" dirty="0" err="1"/>
              <a:t>GraphQL</a:t>
            </a:r>
            <a:r>
              <a:rPr lang="en-US" dirty="0"/>
              <a:t>-a </a:t>
            </a:r>
            <a:r>
              <a:rPr lang="en-US" dirty="0" err="1"/>
              <a:t>zavisi</a:t>
            </a:r>
            <a:r>
              <a:rPr lang="en-US" dirty="0"/>
              <a:t> od toga da li </a:t>
            </a:r>
            <a:r>
              <a:rPr lang="en-US" dirty="0" err="1"/>
              <a:t>klijent</a:t>
            </a:r>
            <a:r>
              <a:rPr lang="en-US" dirty="0"/>
              <a:t> </a:t>
            </a:r>
            <a:r>
              <a:rPr lang="en-US" dirty="0" err="1"/>
              <a:t>zaista</a:t>
            </a:r>
            <a:r>
              <a:rPr lang="en-US" dirty="0"/>
              <a:t> </a:t>
            </a:r>
            <a:r>
              <a:rPr lang="en-US" dirty="0" err="1"/>
              <a:t>traži</a:t>
            </a:r>
            <a:r>
              <a:rPr lang="en-US" dirty="0"/>
              <a:t> </a:t>
            </a:r>
            <a:r>
              <a:rPr lang="en-US" dirty="0" err="1"/>
              <a:t>manje</a:t>
            </a:r>
            <a:r>
              <a:rPr lang="en-US" dirty="0"/>
              <a:t> </a:t>
            </a:r>
            <a:r>
              <a:rPr lang="en-US" dirty="0" err="1"/>
              <a:t>podataka</a:t>
            </a:r>
            <a:endParaRPr lang="en-US" dirty="0"/>
          </a:p>
          <a:p>
            <a:endParaRPr lang="en-US" dirty="0"/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8BD3AC80-DD95-32A5-07EB-3043F171D59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42339974"/>
              </p:ext>
            </p:extLst>
          </p:nvPr>
        </p:nvGraphicFramePr>
        <p:xfrm>
          <a:off x="6349134" y="3264767"/>
          <a:ext cx="5768975" cy="29284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8862727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83CC6-1FF3-2BB1-A683-E6332AACF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Tumačenje</a:t>
            </a:r>
            <a:r>
              <a:rPr lang="en-US" dirty="0"/>
              <a:t> </a:t>
            </a:r>
            <a:r>
              <a:rPr lang="en-US" dirty="0" err="1"/>
              <a:t>rezultata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4BD4BC-9642-2A50-52FD-8EC88624B4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 err="1"/>
              <a:t>Zašto</a:t>
            </a:r>
            <a:r>
              <a:rPr lang="en-US" b="1" dirty="0"/>
              <a:t> REST </a:t>
            </a:r>
            <a:r>
              <a:rPr lang="en-US" b="1" dirty="0" err="1"/>
              <a:t>ima</a:t>
            </a:r>
            <a:r>
              <a:rPr lang="en-US" b="1" dirty="0"/>
              <a:t> </a:t>
            </a:r>
            <a:r>
              <a:rPr lang="en-US" b="1" dirty="0" err="1"/>
              <a:t>prednost</a:t>
            </a:r>
            <a:r>
              <a:rPr lang="en-US" b="1" dirty="0"/>
              <a:t>?</a:t>
            </a:r>
            <a:endParaRPr lang="en-US" dirty="0"/>
          </a:p>
          <a:p>
            <a:r>
              <a:rPr lang="en-US" dirty="0" err="1"/>
              <a:t>manji</a:t>
            </a:r>
            <a:r>
              <a:rPr lang="en-US" dirty="0"/>
              <a:t> execution overhead </a:t>
            </a:r>
          </a:p>
          <a:p>
            <a:r>
              <a:rPr lang="en-US" dirty="0" err="1"/>
              <a:t>unapred</a:t>
            </a:r>
            <a:r>
              <a:rPr lang="en-US" dirty="0"/>
              <a:t> </a:t>
            </a:r>
            <a:r>
              <a:rPr lang="en-US" dirty="0" err="1"/>
              <a:t>poznat</a:t>
            </a:r>
            <a:r>
              <a:rPr lang="en-US" dirty="0"/>
              <a:t> response shape </a:t>
            </a:r>
          </a:p>
          <a:p>
            <a:r>
              <a:rPr lang="en-US" dirty="0" err="1"/>
              <a:t>jednostavniji</a:t>
            </a:r>
            <a:r>
              <a:rPr lang="en-US" dirty="0"/>
              <a:t> </a:t>
            </a:r>
            <a:r>
              <a:rPr lang="en-US" dirty="0" err="1"/>
              <a:t>tok</a:t>
            </a:r>
            <a:r>
              <a:rPr lang="en-US" dirty="0"/>
              <a:t> </a:t>
            </a:r>
            <a:r>
              <a:rPr lang="en-US" dirty="0" err="1"/>
              <a:t>obrade</a:t>
            </a:r>
            <a:r>
              <a:rPr lang="en-US" dirty="0"/>
              <a:t> </a:t>
            </a:r>
          </a:p>
          <a:p>
            <a:r>
              <a:rPr lang="en-US" dirty="0" err="1"/>
              <a:t>prirodnije</a:t>
            </a:r>
            <a:r>
              <a:rPr lang="en-US" dirty="0"/>
              <a:t> </a:t>
            </a:r>
            <a:r>
              <a:rPr lang="en-US" dirty="0" err="1"/>
              <a:t>mapiranje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HTTP endpoint-e </a:t>
            </a:r>
          </a:p>
          <a:p>
            <a:pPr marL="0" indent="0">
              <a:buNone/>
            </a:pPr>
            <a:r>
              <a:rPr lang="en-US" b="1" dirty="0" err="1"/>
              <a:t>Zašto</a:t>
            </a:r>
            <a:r>
              <a:rPr lang="en-US" b="1" dirty="0"/>
              <a:t> </a:t>
            </a:r>
            <a:r>
              <a:rPr lang="en-US" b="1" dirty="0" err="1"/>
              <a:t>GraphQL</a:t>
            </a:r>
            <a:r>
              <a:rPr lang="en-US" b="1" dirty="0"/>
              <a:t> </a:t>
            </a:r>
            <a:r>
              <a:rPr lang="en-US" b="1" dirty="0" err="1"/>
              <a:t>pobe</a:t>
            </a:r>
            <a:r>
              <a:rPr lang="sr-Latn-RS" b="1" dirty="0"/>
              <a:t>đuje</a:t>
            </a:r>
            <a:r>
              <a:rPr lang="en-US" b="1" dirty="0"/>
              <a:t> u </a:t>
            </a:r>
            <a:r>
              <a:rPr lang="en-US" b="1" dirty="0" err="1"/>
              <a:t>trećem</a:t>
            </a:r>
            <a:r>
              <a:rPr lang="en-US" b="1" dirty="0"/>
              <a:t> </a:t>
            </a:r>
            <a:r>
              <a:rPr lang="en-US" b="1" dirty="0" err="1"/>
              <a:t>scenariju</a:t>
            </a:r>
            <a:r>
              <a:rPr lang="en-US" b="1" dirty="0"/>
              <a:t>?</a:t>
            </a:r>
            <a:endParaRPr lang="en-US" dirty="0"/>
          </a:p>
          <a:p>
            <a:r>
              <a:rPr lang="en-US" dirty="0"/>
              <a:t>selection set </a:t>
            </a:r>
          </a:p>
          <a:p>
            <a:r>
              <a:rPr lang="en-US" dirty="0" err="1"/>
              <a:t>manje</a:t>
            </a:r>
            <a:r>
              <a:rPr lang="en-US" dirty="0"/>
              <a:t> </a:t>
            </a:r>
            <a:r>
              <a:rPr lang="en-US" dirty="0" err="1"/>
              <a:t>polja</a:t>
            </a:r>
            <a:r>
              <a:rPr lang="en-US" dirty="0"/>
              <a:t> </a:t>
            </a:r>
          </a:p>
          <a:p>
            <a:r>
              <a:rPr lang="en-US" dirty="0" err="1"/>
              <a:t>manji</a:t>
            </a:r>
            <a:r>
              <a:rPr lang="en-US" dirty="0"/>
              <a:t> payload </a:t>
            </a:r>
          </a:p>
          <a:p>
            <a:r>
              <a:rPr lang="en-US" dirty="0" err="1"/>
              <a:t>manje</a:t>
            </a:r>
            <a:r>
              <a:rPr lang="en-US" dirty="0"/>
              <a:t> </a:t>
            </a:r>
            <a:r>
              <a:rPr lang="en-US" dirty="0" err="1"/>
              <a:t>nepotrebne</a:t>
            </a:r>
            <a:r>
              <a:rPr lang="en-US" dirty="0"/>
              <a:t> </a:t>
            </a:r>
            <a:r>
              <a:rPr lang="en-US" dirty="0" err="1"/>
              <a:t>obrade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91685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88DF7-5975-978C-57D3-A149146E5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Doprinos</a:t>
            </a:r>
            <a:r>
              <a:rPr lang="en-US" dirty="0"/>
              <a:t> rada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6B6C53-5AF5-ABA2-3A2C-C9EEE48EED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Rad </a:t>
            </a:r>
            <a:r>
              <a:rPr lang="en-US" b="1" dirty="0" err="1"/>
              <a:t>doprinosi</a:t>
            </a:r>
            <a:r>
              <a:rPr lang="en-US" b="1" dirty="0"/>
              <a:t>:</a:t>
            </a:r>
            <a:endParaRPr lang="en-US" dirty="0"/>
          </a:p>
          <a:p>
            <a:r>
              <a:rPr lang="en-US" dirty="0" err="1"/>
              <a:t>objektivnijem</a:t>
            </a:r>
            <a:r>
              <a:rPr lang="en-US" dirty="0"/>
              <a:t> </a:t>
            </a:r>
            <a:r>
              <a:rPr lang="en-US" dirty="0" err="1"/>
              <a:t>poređenju</a:t>
            </a:r>
            <a:r>
              <a:rPr lang="en-US" dirty="0"/>
              <a:t> REST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GraphQL</a:t>
            </a:r>
            <a:r>
              <a:rPr lang="en-US" dirty="0"/>
              <a:t> </a:t>
            </a:r>
            <a:r>
              <a:rPr lang="en-US" dirty="0" err="1"/>
              <a:t>pristupa</a:t>
            </a:r>
            <a:r>
              <a:rPr lang="en-US" dirty="0"/>
              <a:t> u .NET </a:t>
            </a:r>
            <a:r>
              <a:rPr lang="en-US" dirty="0" err="1"/>
              <a:t>okruženju</a:t>
            </a:r>
            <a:r>
              <a:rPr lang="en-US" dirty="0"/>
              <a:t> </a:t>
            </a:r>
          </a:p>
          <a:p>
            <a:r>
              <a:rPr lang="en-US" dirty="0" err="1"/>
              <a:t>praktičnoj</a:t>
            </a:r>
            <a:r>
              <a:rPr lang="en-US" dirty="0"/>
              <a:t> </a:t>
            </a:r>
            <a:r>
              <a:rPr lang="en-US" dirty="0" err="1"/>
              <a:t>implementaciji</a:t>
            </a:r>
            <a:r>
              <a:rPr lang="en-US" dirty="0"/>
              <a:t> oba </a:t>
            </a:r>
            <a:r>
              <a:rPr lang="en-US" dirty="0" err="1"/>
              <a:t>pristupa</a:t>
            </a:r>
            <a:r>
              <a:rPr lang="en-US" dirty="0"/>
              <a:t> </a:t>
            </a:r>
            <a:r>
              <a:rPr lang="en-US" dirty="0" err="1"/>
              <a:t>nad</a:t>
            </a:r>
            <a:r>
              <a:rPr lang="en-US" dirty="0"/>
              <a:t> </a:t>
            </a:r>
            <a:r>
              <a:rPr lang="en-US" dirty="0" err="1"/>
              <a:t>istim</a:t>
            </a:r>
            <a:r>
              <a:rPr lang="en-US" dirty="0"/>
              <a:t> </a:t>
            </a:r>
            <a:r>
              <a:rPr lang="en-US" dirty="0" err="1"/>
              <a:t>poslovnim</a:t>
            </a:r>
            <a:r>
              <a:rPr lang="en-US" dirty="0"/>
              <a:t> </a:t>
            </a:r>
            <a:r>
              <a:rPr lang="en-US" dirty="0" err="1"/>
              <a:t>slojem</a:t>
            </a:r>
            <a:r>
              <a:rPr lang="en-US" dirty="0"/>
              <a:t> </a:t>
            </a:r>
          </a:p>
          <a:p>
            <a:r>
              <a:rPr lang="en-US" dirty="0" err="1"/>
              <a:t>eksperimentalnoj</a:t>
            </a:r>
            <a:r>
              <a:rPr lang="en-US" dirty="0"/>
              <a:t> </a:t>
            </a:r>
            <a:r>
              <a:rPr lang="en-US" dirty="0" err="1"/>
              <a:t>evaluaciji</a:t>
            </a:r>
            <a:r>
              <a:rPr lang="en-US" dirty="0"/>
              <a:t> </a:t>
            </a:r>
            <a:r>
              <a:rPr lang="en-US" dirty="0" err="1"/>
              <a:t>kroz</a:t>
            </a:r>
            <a:r>
              <a:rPr lang="en-US" dirty="0"/>
              <a:t> pet benchmark </a:t>
            </a:r>
            <a:r>
              <a:rPr lang="en-US" dirty="0" err="1"/>
              <a:t>scenarija</a:t>
            </a:r>
            <a:r>
              <a:rPr lang="en-US" dirty="0"/>
              <a:t> </a:t>
            </a:r>
          </a:p>
          <a:p>
            <a:r>
              <a:rPr lang="en-US" dirty="0" err="1"/>
              <a:t>analizi</a:t>
            </a:r>
            <a:r>
              <a:rPr lang="en-US" dirty="0"/>
              <a:t> </a:t>
            </a:r>
            <a:r>
              <a:rPr lang="en-US" dirty="0" err="1"/>
              <a:t>performansi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veličine</a:t>
            </a:r>
            <a:r>
              <a:rPr lang="en-US" dirty="0"/>
              <a:t> </a:t>
            </a:r>
            <a:r>
              <a:rPr lang="en-US" dirty="0" err="1"/>
              <a:t>odgovora</a:t>
            </a:r>
            <a:r>
              <a:rPr lang="en-US" dirty="0"/>
              <a:t> </a:t>
            </a:r>
          </a:p>
          <a:p>
            <a:r>
              <a:rPr lang="en-US" dirty="0" err="1"/>
              <a:t>smernicama</a:t>
            </a:r>
            <a:r>
              <a:rPr lang="en-US" dirty="0"/>
              <a:t> za </a:t>
            </a:r>
            <a:r>
              <a:rPr lang="en-US" dirty="0" err="1"/>
              <a:t>izbor</a:t>
            </a:r>
            <a:r>
              <a:rPr lang="en-US" dirty="0"/>
              <a:t> API </a:t>
            </a:r>
            <a:r>
              <a:rPr lang="en-US" dirty="0" err="1"/>
              <a:t>pristupa</a:t>
            </a:r>
            <a:r>
              <a:rPr lang="en-US" dirty="0"/>
              <a:t> u </a:t>
            </a:r>
            <a:r>
              <a:rPr lang="en-US" dirty="0" err="1"/>
              <a:t>realnim</a:t>
            </a:r>
            <a:r>
              <a:rPr lang="en-US" dirty="0"/>
              <a:t> </a:t>
            </a:r>
            <a:r>
              <a:rPr lang="en-US" dirty="0" err="1"/>
              <a:t>projektima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7766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9670F6-9598-1948-52F5-01418E225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E1F0E-D7B9-743A-4D6C-6E7FF3335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Zaključak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A6DFEE-2001-0D8C-6A5B-8028B647B8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2221992"/>
            <a:ext cx="10790730" cy="3739896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REST</a:t>
            </a:r>
            <a:endParaRPr lang="en-US" dirty="0"/>
          </a:p>
          <a:p>
            <a:r>
              <a:rPr lang="en-US" dirty="0" err="1"/>
              <a:t>jednostavniji</a:t>
            </a:r>
            <a:r>
              <a:rPr lang="en-US" dirty="0"/>
              <a:t> </a:t>
            </a:r>
          </a:p>
          <a:p>
            <a:r>
              <a:rPr lang="en-US" dirty="0" err="1"/>
              <a:t>efikasniji</a:t>
            </a:r>
            <a:r>
              <a:rPr lang="en-US" dirty="0"/>
              <a:t> </a:t>
            </a:r>
            <a:r>
              <a:rPr lang="en-US" dirty="0" err="1"/>
              <a:t>kod</a:t>
            </a:r>
            <a:r>
              <a:rPr lang="en-US" dirty="0"/>
              <a:t> </a:t>
            </a:r>
            <a:r>
              <a:rPr lang="en-US" dirty="0" err="1"/>
              <a:t>stabilnih</a:t>
            </a:r>
            <a:r>
              <a:rPr lang="en-US" dirty="0"/>
              <a:t> </a:t>
            </a:r>
            <a:r>
              <a:rPr lang="en-US" dirty="0" err="1"/>
              <a:t>odgovora</a:t>
            </a:r>
            <a:r>
              <a:rPr lang="en-US" dirty="0"/>
              <a:t> </a:t>
            </a:r>
          </a:p>
          <a:p>
            <a:r>
              <a:rPr lang="en-US" dirty="0" err="1"/>
              <a:t>bolji</a:t>
            </a:r>
            <a:r>
              <a:rPr lang="en-US" dirty="0"/>
              <a:t> u </a:t>
            </a:r>
            <a:r>
              <a:rPr lang="en-US" dirty="0" err="1"/>
              <a:t>većini</a:t>
            </a:r>
            <a:r>
              <a:rPr lang="en-US" dirty="0"/>
              <a:t> fixed-shape </a:t>
            </a:r>
            <a:r>
              <a:rPr lang="en-US" dirty="0" err="1"/>
              <a:t>scenarija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b="1" dirty="0" err="1"/>
              <a:t>GraphQL</a:t>
            </a:r>
            <a:endParaRPr lang="en-US" dirty="0"/>
          </a:p>
          <a:p>
            <a:r>
              <a:rPr lang="en-US" dirty="0" err="1"/>
              <a:t>fleksibilniji</a:t>
            </a:r>
            <a:r>
              <a:rPr lang="en-US" dirty="0"/>
              <a:t> </a:t>
            </a:r>
          </a:p>
          <a:p>
            <a:r>
              <a:rPr lang="en-US" dirty="0" err="1"/>
              <a:t>bolji</a:t>
            </a:r>
            <a:r>
              <a:rPr lang="en-US" dirty="0"/>
              <a:t> </a:t>
            </a:r>
            <a:r>
              <a:rPr lang="en-US" dirty="0" err="1"/>
              <a:t>kod</a:t>
            </a:r>
            <a:r>
              <a:rPr lang="en-US" dirty="0"/>
              <a:t> </a:t>
            </a:r>
            <a:r>
              <a:rPr lang="en-US" dirty="0" err="1"/>
              <a:t>selektivnog</a:t>
            </a:r>
            <a:r>
              <a:rPr lang="en-US" dirty="0"/>
              <a:t> </a:t>
            </a:r>
            <a:r>
              <a:rPr lang="en-US" dirty="0" err="1"/>
              <a:t>dohvatanja</a:t>
            </a:r>
            <a:r>
              <a:rPr lang="en-US" dirty="0"/>
              <a:t> </a:t>
            </a:r>
          </a:p>
          <a:p>
            <a:r>
              <a:rPr lang="en-US" dirty="0" err="1"/>
              <a:t>pogodan</a:t>
            </a:r>
            <a:r>
              <a:rPr lang="en-US" dirty="0"/>
              <a:t> za </a:t>
            </a:r>
            <a:r>
              <a:rPr lang="en-US" dirty="0" err="1"/>
              <a:t>više</a:t>
            </a:r>
            <a:r>
              <a:rPr lang="en-US" dirty="0"/>
              <a:t> </a:t>
            </a:r>
            <a:r>
              <a:rPr lang="en-US" dirty="0" err="1"/>
              <a:t>različitih</a:t>
            </a:r>
            <a:r>
              <a:rPr lang="en-US" dirty="0"/>
              <a:t> </a:t>
            </a:r>
            <a:r>
              <a:rPr lang="en-US" dirty="0" err="1"/>
              <a:t>klijenata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b="1" dirty="0" err="1"/>
              <a:t>Ključna</a:t>
            </a:r>
            <a:r>
              <a:rPr lang="en-US" b="1" dirty="0"/>
              <a:t> </a:t>
            </a:r>
            <a:r>
              <a:rPr lang="en-US" b="1" dirty="0" err="1"/>
              <a:t>poruka</a:t>
            </a:r>
            <a:endParaRPr lang="en-US" dirty="0"/>
          </a:p>
          <a:p>
            <a:r>
              <a:rPr lang="en-US" dirty="0"/>
              <a:t>Ne </a:t>
            </a:r>
            <a:r>
              <a:rPr lang="en-US" dirty="0" err="1"/>
              <a:t>postoji</a:t>
            </a:r>
            <a:r>
              <a:rPr lang="en-US" dirty="0"/>
              <a:t> </a:t>
            </a:r>
            <a:r>
              <a:rPr lang="en-US" dirty="0" err="1"/>
              <a:t>univerzalno</a:t>
            </a:r>
            <a:r>
              <a:rPr lang="en-US" dirty="0"/>
              <a:t> </a:t>
            </a:r>
            <a:r>
              <a:rPr lang="en-US" dirty="0" err="1"/>
              <a:t>bolji</a:t>
            </a:r>
            <a:r>
              <a:rPr lang="en-US" dirty="0"/>
              <a:t> </a:t>
            </a:r>
            <a:r>
              <a:rPr lang="en-US" dirty="0" err="1"/>
              <a:t>pristup</a:t>
            </a:r>
            <a:r>
              <a:rPr lang="en-US" dirty="0"/>
              <a:t> — </a:t>
            </a:r>
            <a:r>
              <a:rPr lang="en-US" dirty="0" err="1"/>
              <a:t>izbor</a:t>
            </a:r>
            <a:r>
              <a:rPr lang="en-US" dirty="0"/>
              <a:t> </a:t>
            </a:r>
            <a:r>
              <a:rPr lang="en-US" dirty="0" err="1"/>
              <a:t>zavisi</a:t>
            </a:r>
            <a:r>
              <a:rPr lang="en-US" dirty="0"/>
              <a:t> od </a:t>
            </a:r>
            <a:r>
              <a:rPr lang="en-US" dirty="0" err="1"/>
              <a:t>zahteva</a:t>
            </a:r>
            <a:r>
              <a:rPr lang="en-US" dirty="0"/>
              <a:t> </a:t>
            </a:r>
            <a:r>
              <a:rPr lang="en-US" dirty="0" err="1"/>
              <a:t>sistema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53168375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723E7C6-5629-446B-874A-85DA81AA929E}">
  <we:reference id="wa200005669" version="2.0.0.0" store="en-US" storeType="OMEX"/>
  <we:alternateReferences>
    <we:reference id="WA200005669" version="2.0.0.0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2906</TotalTime>
  <Words>674</Words>
  <Application>Microsoft Office PowerPoint</Application>
  <PresentationFormat>Widescreen</PresentationFormat>
  <Paragraphs>150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Calisto MT</vt:lpstr>
      <vt:lpstr>Univers Condensed</vt:lpstr>
      <vt:lpstr>ChronicleVTI</vt:lpstr>
      <vt:lpstr>Komparativna analiza REST i GraphQL pristupa u razvoju Web API sistema u .NET okruženju</vt:lpstr>
      <vt:lpstr>Polazni problem</vt:lpstr>
      <vt:lpstr>Motivacija</vt:lpstr>
      <vt:lpstr>Cilj</vt:lpstr>
      <vt:lpstr>Teorijska razlika</vt:lpstr>
      <vt:lpstr>PowerPoint Presentation</vt:lpstr>
      <vt:lpstr>PowerPoint Presentation</vt:lpstr>
      <vt:lpstr>PowerPoint Presentation</vt:lpstr>
      <vt:lpstr>Praktični sistem: CommerceHub</vt:lpstr>
      <vt:lpstr>Arhitektura rešenja</vt:lpstr>
      <vt:lpstr>Tok izvršavanja zahteva</vt:lpstr>
      <vt:lpstr>PowerPoint Presentation</vt:lpstr>
      <vt:lpstr>PowerPoint Presentation</vt:lpstr>
      <vt:lpstr>Benchmark metodologija</vt:lpstr>
      <vt:lpstr>Benchmark scenariji</vt:lpstr>
      <vt:lpstr>PowerPoint Presentation</vt:lpstr>
      <vt:lpstr>Rezultati: latencija</vt:lpstr>
      <vt:lpstr>Rezultati: payload</vt:lpstr>
      <vt:lpstr>Tumačenje rezultata</vt:lpstr>
      <vt:lpstr>Doprinos rada</vt:lpstr>
      <vt:lpstr>Zaključak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Miloš Veljanovski</dc:creator>
  <cp:lastModifiedBy>Miloš Veljanovski</cp:lastModifiedBy>
  <cp:revision>18</cp:revision>
  <dcterms:created xsi:type="dcterms:W3CDTF">2026-06-16T21:50:54Z</dcterms:created>
  <dcterms:modified xsi:type="dcterms:W3CDTF">2026-07-02T21:19:56Z</dcterms:modified>
</cp:coreProperties>
</file>